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TsWPAUMHjDM3Gq6Kzfen3vnnK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파라미터 수 (만 단위) — CNN이 절반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파라미터 (만)</c:v>
                </c:pt>
              </c:strCache>
            </c:strRef>
          </c:tx>
          <c:spPr>
            <a:solidFill>
              <a:srgbClr val="DB5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50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D5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MLP</c:v>
                  </c:pt>
                  <c:pt idx="1">
                    <c:v>CNN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F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MNIST 정확도 (3 epoch) — 에러율 절반!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spPr>
            <a:solidFill>
              <a:srgbClr val="DB5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50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D5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MLP</c:v>
                  </c:pt>
                  <c:pt idx="1">
                    <c:v>CNN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F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이미지를 옆으로 옮긴 픽셀 vs 정답 클래스 신뢰도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DB504A"/>
            </a:solidFill>
            <a:ln w="50800" cap="flat">
              <a:solidFill>
                <a:srgbClr val="DB5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B504A"/>
              </a:solidFill>
              <a:ln w="9525" cap="flat">
                <a:solidFill>
                  <a:srgbClr val="DB5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-7px</c:v>
                  </c:pt>
                  <c:pt idx="1">
                    <c:v>-4px</c:v>
                  </c:pt>
                  <c:pt idx="2">
                    <c:v>-2px</c:v>
                  </c:pt>
                  <c:pt idx="3">
                    <c:v>0px</c:v>
                  </c:pt>
                  <c:pt idx="4">
                    <c:v>2px</c:v>
                  </c:pt>
                  <c:pt idx="5">
                    <c:v>4px</c:v>
                  </c:pt>
                  <c:pt idx="6">
                    <c:v>7px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0.32</c:v>
                </c:pt>
                <c:pt idx="1">
                  <c:v>0.55</c:v>
                </c:pt>
                <c:pt idx="2">
                  <c:v>0.78</c:v>
                </c:pt>
                <c:pt idx="3">
                  <c:v>0.94</c:v>
                </c:pt>
                <c:pt idx="4">
                  <c:v>0.76</c:v>
                </c:pt>
                <c:pt idx="5">
                  <c:v>0.52</c:v>
                </c:pt>
                <c:pt idx="6">
                  <c:v>0.3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5FAD56"/>
            </a:solidFill>
            <a:ln w="50800" cap="flat">
              <a:solidFill>
                <a:srgbClr val="5FAD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AD56"/>
              </a:solidFill>
              <a:ln w="9525" cap="flat">
                <a:solidFill>
                  <a:srgbClr val="5FAD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-7px</c:v>
                  </c:pt>
                  <c:pt idx="1">
                    <c:v>-4px</c:v>
                  </c:pt>
                  <c:pt idx="2">
                    <c:v>-2px</c:v>
                  </c:pt>
                  <c:pt idx="3">
                    <c:v>0px</c:v>
                  </c:pt>
                  <c:pt idx="4">
                    <c:v>2px</c:v>
                  </c:pt>
                  <c:pt idx="5">
                    <c:v>4px</c:v>
                  </c:pt>
                  <c:pt idx="6">
                    <c:v>7px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0.85</c:v>
                </c:pt>
                <c:pt idx="1">
                  <c:v>0.91</c:v>
                </c:pt>
                <c:pt idx="2">
                  <c:v>0.95</c:v>
                </c:pt>
                <c:pt idx="3">
                  <c:v>0.97</c:v>
                </c:pt>
                <c:pt idx="4">
                  <c:v>0.94</c:v>
                </c:pt>
                <c:pt idx="5">
                  <c:v>0.9</c:v>
                </c:pt>
                <c:pt idx="6">
                  <c:v>0.83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F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3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548640"/>
            <a:ext cx="137160" cy="137160"/>
          </a:xfrm>
          <a:prstGeom prst="ellipse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14400" y="548640"/>
            <a:ext cx="137160" cy="137160"/>
          </a:xfrm>
          <a:prstGeom prst="ellipse">
            <a:avLst/>
          </a:prstGeom>
          <a:solidFill>
            <a:srgbClr val="1C7293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280160" y="548640"/>
            <a:ext cx="137160" cy="137160"/>
          </a:xfrm>
          <a:prstGeom prst="ellipse">
            <a:avLst/>
          </a:prstGeom>
          <a:solidFill>
            <a:srgbClr val="1C7293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645920" y="548640"/>
            <a:ext cx="137160" cy="137160"/>
          </a:xfrm>
          <a:prstGeom prst="ellipse">
            <a:avLst/>
          </a:prstGeom>
          <a:solidFill>
            <a:srgbClr val="1C7293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914400"/>
            <a:ext cx="137160" cy="137160"/>
          </a:xfrm>
          <a:prstGeom prst="ellipse">
            <a:avLst/>
          </a:prstGeom>
          <a:solidFill>
            <a:srgbClr val="1C7293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14400" y="914400"/>
            <a:ext cx="137160" cy="137160"/>
          </a:xfrm>
          <a:prstGeom prst="ellipse">
            <a:avLst/>
          </a:prstGeom>
          <a:solidFill>
            <a:srgbClr val="1C7293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280160" y="914400"/>
            <a:ext cx="137160" cy="137160"/>
          </a:xfrm>
          <a:prstGeom prst="ellipse">
            <a:avLst/>
          </a:prstGeom>
          <a:solidFill>
            <a:srgbClr val="1C7293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645920" y="914400"/>
            <a:ext cx="137160" cy="13716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48640" y="1280160"/>
            <a:ext cx="137160" cy="137160"/>
          </a:xfrm>
          <a:prstGeom prst="ellipse">
            <a:avLst/>
          </a:prstGeom>
          <a:solidFill>
            <a:srgbClr val="1C7293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914400" y="1280160"/>
            <a:ext cx="137160" cy="137160"/>
          </a:xfrm>
          <a:prstGeom prst="ellipse">
            <a:avLst/>
          </a:prstGeom>
          <a:solidFill>
            <a:srgbClr val="1C7293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280160" y="1280160"/>
            <a:ext cx="137160" cy="13716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645920" y="1280160"/>
            <a:ext cx="137160" cy="13716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48640" y="1645920"/>
            <a:ext cx="137160" cy="137160"/>
          </a:xfrm>
          <a:prstGeom prst="ellipse">
            <a:avLst/>
          </a:prstGeom>
          <a:solidFill>
            <a:srgbClr val="1C7293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914400" y="1645920"/>
            <a:ext cx="137160" cy="13716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280160" y="1645920"/>
            <a:ext cx="137160" cy="13716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645920" y="1645920"/>
            <a:ext cx="137160" cy="13716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48640" y="2011680"/>
            <a:ext cx="137160" cy="13716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914400" y="2011680"/>
            <a:ext cx="137160" cy="13716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280160" y="2011680"/>
            <a:ext cx="137160" cy="13716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1645920" y="2011680"/>
            <a:ext cx="137160" cy="137160"/>
          </a:xfrm>
          <a:prstGeom prst="ellipse">
            <a:avLst/>
          </a:prstGeom>
          <a:solidFill>
            <a:srgbClr val="1C7293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48640" y="2377440"/>
            <a:ext cx="137160" cy="13716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914400" y="2377440"/>
            <a:ext cx="137160" cy="13716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1280160" y="2377440"/>
            <a:ext cx="137160" cy="137160"/>
          </a:xfrm>
          <a:prstGeom prst="ellipse">
            <a:avLst/>
          </a:prstGeom>
          <a:solidFill>
            <a:srgbClr val="1C7293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645920" y="2377440"/>
            <a:ext cx="137160" cy="13716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4572000" y="1371600"/>
            <a:ext cx="713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0" i="0" lang="en-US" sz="1600" u="none" cap="none" strike="noStrike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1 · Session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4572000" y="192024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CNN 패러다임과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572000" y="269748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이미지 표현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1"/>
          <p:cNvCxnSpPr/>
          <p:nvPr/>
        </p:nvCxnSpPr>
        <p:spPr>
          <a:xfrm>
            <a:off x="4572000" y="3703320"/>
            <a:ext cx="1371600" cy="0"/>
          </a:xfrm>
          <a:prstGeom prst="straightConnector1">
            <a:avLst/>
          </a:prstGeom>
          <a:noFill/>
          <a:ln cap="flat" cmpd="sng" w="381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"/>
          <p:cNvSpPr/>
          <p:nvPr/>
        </p:nvSpPr>
        <p:spPr>
          <a:xfrm>
            <a:off x="4572000" y="393192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이미지가 컴퓨터에 어떻게 저장되는가?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MLP는 왜 이미지에 약한가?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572000" y="594360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강사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양진욱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학습 목표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" y="1554480"/>
            <a:ext cx="530352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40080" y="1554480"/>
            <a:ext cx="10972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60120" y="17373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828800" y="1783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이미지 표현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05840" y="2423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픽셀, RGB 채널, 그레이스케일 변환을 NumPy로 자유롭게 다룬다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309360" y="1554480"/>
            <a:ext cx="530352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309360" y="1554480"/>
            <a:ext cx="10972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629400" y="17373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498080" y="1783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텐서 변환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675120" y="2423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NumPy ↔ PyTorch, HWC ↔ CHW 차원 순서를 마스터한다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40080" y="3840480"/>
            <a:ext cx="530352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40080" y="3840480"/>
            <a:ext cx="10972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960120" y="40233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828800" y="4069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전처리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00584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정규화·증강 파이프라인을 torchvision/albumentations로 구축한다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309360" y="3840480"/>
            <a:ext cx="530352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309360" y="3840480"/>
            <a:ext cx="109728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629400" y="40233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498080" y="4069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CNN 본질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675120" y="4709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MLP의 한계와 CNN의 3대 원리(Locality·Sharing·Invariance)를 안다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2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457200" y="1645920"/>
            <a:ext cx="265176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57200" y="24688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픽셀과 채널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40080" y="338328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이미지는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결국 숫자다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383280" y="1645920"/>
            <a:ext cx="2651760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383280" y="24688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텐서 변환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566160" y="338328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차원 순서를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다스려라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309360" y="1645920"/>
            <a:ext cx="2651760" cy="8229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309360" y="24688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49224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정규화·증강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492240" y="338328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전처리는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학습의 시작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235440" y="1645920"/>
            <a:ext cx="2651760" cy="82296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235440" y="2468880"/>
            <a:ext cx="265176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9418320" y="2651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MLP vs CNN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418320" y="338328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왜 CNN을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써야 하는가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메시지: 이미지 = 숫자 / 차원 순서 마스터 / 정규화 = 학습의 시작 / CNN의 강점은 구조에서 온다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3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1부. 디지털 이미지의 본질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이미지는 결국 숫자 격자다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" y="15544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그레이스케일 (5×5)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solidFill>
            <a:srgbClr val="0A0A0A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280160" y="2011680"/>
            <a:ext cx="640080" cy="640080"/>
          </a:xfrm>
          <a:prstGeom prst="rect">
            <a:avLst/>
          </a:prstGeom>
          <a:solidFill>
            <a:srgbClr val="141414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28016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920240" y="2011680"/>
            <a:ext cx="640080" cy="64008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92024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560320" y="2011680"/>
            <a:ext cx="640080" cy="640080"/>
          </a:xfrm>
          <a:prstGeom prst="rect">
            <a:avLst/>
          </a:prstGeom>
          <a:solidFill>
            <a:srgbClr val="282828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56032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200400" y="2011680"/>
            <a:ext cx="640080" cy="640080"/>
          </a:xfrm>
          <a:prstGeom prst="rect">
            <a:avLst/>
          </a:prstGeom>
          <a:solidFill>
            <a:srgbClr val="32323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20040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solidFill>
            <a:srgbClr val="3C3C3C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280160" y="2651760"/>
            <a:ext cx="640080" cy="640080"/>
          </a:xfrm>
          <a:prstGeom prst="rect">
            <a:avLst/>
          </a:prstGeom>
          <a:solidFill>
            <a:srgbClr val="464646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28016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920240" y="2651760"/>
            <a:ext cx="640080" cy="640080"/>
          </a:xfrm>
          <a:prstGeom prst="rect">
            <a:avLst/>
          </a:prstGeom>
          <a:solidFill>
            <a:srgbClr val="50505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192024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560320" y="2651760"/>
            <a:ext cx="640080" cy="640080"/>
          </a:xfrm>
          <a:prstGeom prst="rect">
            <a:avLst/>
          </a:prstGeom>
          <a:solidFill>
            <a:srgbClr val="5A5A5A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256032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200400" y="2651760"/>
            <a:ext cx="640080" cy="640080"/>
          </a:xfrm>
          <a:prstGeom prst="rect">
            <a:avLst/>
          </a:prstGeom>
          <a:solidFill>
            <a:srgbClr val="646464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20040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solidFill>
            <a:srgbClr val="6E6E6E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4008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280160" y="3291840"/>
            <a:ext cx="640080" cy="640080"/>
          </a:xfrm>
          <a:prstGeom prst="rect">
            <a:avLst/>
          </a:prstGeom>
          <a:solidFill>
            <a:srgbClr val="787878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28016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920240" y="3291840"/>
            <a:ext cx="640080" cy="640080"/>
          </a:xfrm>
          <a:prstGeom prst="rect">
            <a:avLst/>
          </a:prstGeom>
          <a:solidFill>
            <a:srgbClr val="82828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92024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560320" y="3291840"/>
            <a:ext cx="640080" cy="640080"/>
          </a:xfrm>
          <a:prstGeom prst="rect">
            <a:avLst/>
          </a:prstGeom>
          <a:solidFill>
            <a:srgbClr val="8C8C8C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56032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200400" y="3291840"/>
            <a:ext cx="640080" cy="640080"/>
          </a:xfrm>
          <a:prstGeom prst="rect">
            <a:avLst/>
          </a:prstGeom>
          <a:solidFill>
            <a:srgbClr val="969696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200400" y="32918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solidFill>
            <a:srgbClr val="A0A0A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280160" y="3931920"/>
            <a:ext cx="640080" cy="640080"/>
          </a:xfrm>
          <a:prstGeom prst="rect">
            <a:avLst/>
          </a:prstGeom>
          <a:solidFill>
            <a:srgbClr val="AAAAAA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28016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920240" y="3931920"/>
            <a:ext cx="640080" cy="640080"/>
          </a:xfrm>
          <a:prstGeom prst="rect">
            <a:avLst/>
          </a:prstGeom>
          <a:solidFill>
            <a:srgbClr val="B4B4B4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92024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560320" y="3931920"/>
            <a:ext cx="640080" cy="640080"/>
          </a:xfrm>
          <a:prstGeom prst="rect">
            <a:avLst/>
          </a:prstGeom>
          <a:solidFill>
            <a:srgbClr val="BEBEBE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56032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190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200400" y="3931920"/>
            <a:ext cx="640080" cy="640080"/>
          </a:xfrm>
          <a:prstGeom prst="rect">
            <a:avLst/>
          </a:prstGeom>
          <a:solidFill>
            <a:srgbClr val="C8C8C8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3200400" y="3931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solidFill>
            <a:srgbClr val="D2D2D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280160" y="4572000"/>
            <a:ext cx="640080" cy="640080"/>
          </a:xfrm>
          <a:prstGeom prst="rect">
            <a:avLst/>
          </a:prstGeom>
          <a:solidFill>
            <a:srgbClr val="DCDCDC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280160" y="4572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920240" y="4572000"/>
            <a:ext cx="640080" cy="640080"/>
          </a:xfrm>
          <a:prstGeom prst="rect">
            <a:avLst/>
          </a:prstGeom>
          <a:solidFill>
            <a:srgbClr val="E6E6E6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1920240" y="4572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560320" y="4572000"/>
            <a:ext cx="640080" cy="64008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2560320" y="4572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200400" y="4572000"/>
            <a:ext cx="640080" cy="64008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3200400" y="4572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컬러 = R + G + B 3채널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858000" y="2011680"/>
            <a:ext cx="1371600" cy="1371600"/>
          </a:xfrm>
          <a:prstGeom prst="rect">
            <a:avLst/>
          </a:prstGeom>
          <a:solidFill>
            <a:srgbClr val="DB504A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858000" y="20116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8580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R 채널 (H×W)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8686800" y="2011680"/>
            <a:ext cx="1371600" cy="1371600"/>
          </a:xfrm>
          <a:prstGeom prst="rect">
            <a:avLst/>
          </a:prstGeom>
          <a:solidFill>
            <a:srgbClr val="5FAD56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8686800" y="20116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6868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G 채널 (H×W)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0515600" y="2011680"/>
            <a:ext cx="1371600" cy="1371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10515600" y="20116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0515600" y="34747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B 채널 (H×W)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858000" y="4572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(R, G, B) 합성 → 색상 결정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065A82">
              <a:alpha val="7843"/>
            </a:srgbClr>
          </a:solidFill>
          <a:ln cap="flat" cmpd="sng" w="254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731520" y="576072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핵심: 모든 컴퓨터 비전은 이 숫자 배열을 다루는 일. 모델도 결국 숫자 입출력일 뿐.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4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이미지는 NumPy 슬라이싱이다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실습 1-1, 1-2, 1-3 — 픽셀 직접 조작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57200" y="1463040"/>
            <a:ext cx="5943600" cy="43891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5760720" y="1508760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40080" y="1691640"/>
            <a:ext cx="5760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CC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CIFAR-10 한 장 가져와서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img_array = np.array(sample_img)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print(img_array.shape)  </a:t>
            </a:r>
            <a:r>
              <a:rPr b="0" i="1" lang="en-US" sz="14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(32, 32, 3)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CC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채널 분리 — 그냥 슬라이싱!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 = img_array[:, :, 0]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 = img_array[:, :, 1]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= img_array[:, :, 2]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CC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픽셀 직접 조작 가능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img[200:250, 200:250] = [255, 0, 0]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CC"/>
              </a:buClr>
              <a:buSzPts val="1400"/>
              <a:buFont typeface="Consolas"/>
              <a:buNone/>
            </a:pPr>
            <a:r>
              <a:rPr b="0" i="1" lang="en-US" sz="14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그레이스케일 = 채널 평균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gray = img.mean(axis=2)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858000" y="1554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핵심 포인트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858000" y="2011680"/>
            <a:ext cx="48463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858000" y="2011680"/>
            <a:ext cx="73152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699516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589520" y="21031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shape이 (H, W, 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589520" y="24231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NumPy/PIL/OpenCV 표준 순서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858000" y="2926080"/>
            <a:ext cx="48463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858000" y="2926080"/>
            <a:ext cx="73152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6995160" y="3017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🔪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589520" y="30175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슬라이싱으로 처리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589520" y="33375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[:, :, 0]으로 R 채널만 추출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858000" y="3840480"/>
            <a:ext cx="48463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858000" y="3840480"/>
            <a:ext cx="73152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6995160" y="3931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✏️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589520" y="39319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직접 픽셀 수정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7589520" y="42519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라이브러리 없이도 조작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858000" y="4754880"/>
            <a:ext cx="484632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858000" y="4754880"/>
            <a:ext cx="73152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995160" y="4846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7589520" y="48463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그레이스케일 = mean(axis=2)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7589520" y="51663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채널 평균이면 흑백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"이미지 처리의 90%는 NumPy 슬라이싱이다."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5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실습 과제 1-A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200×300 캔버스에 빨강·파랑·노랑 그리기 (5분)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" y="1463040"/>
            <a:ext cx="548640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문제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22960" y="201168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200×300 캔버스를 만드세요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좌측 절반은 빨강 [255, 0, 0]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우측 절반은 파랑 [0, 0, 255]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4. 중앙에 50×50 노란 사각형 [255, 255, 0]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5. plt.imshow()로 시각화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217920" y="1463040"/>
            <a:ext cx="5486400" cy="38404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2A65A"/>
                </a:solidFill>
                <a:latin typeface="Cambria"/>
                <a:ea typeface="Cambria"/>
                <a:cs typeface="Cambria"/>
                <a:sym typeface="Cambria"/>
              </a:rPr>
              <a:t>정답 (해설 후 공개)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6400800" y="2011680"/>
            <a:ext cx="51206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H, W = 200, 300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img = np.zeros((H, W, 3), dtype=np.uint8)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img[:, :W//2] = [255, 0, 0]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img[:, W//2:] = [0, 0, 255]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cy, cx = H//2, W//2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img[cy-25:cy+25, cx-25:cx+25] = \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    [255, 255, 0]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plt.imshow(img); plt.show()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F2A65A">
              <a:alpha val="12156"/>
            </a:srgbClr>
          </a:solidFill>
          <a:ln cap="flat" cmpd="sng" w="254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640080" y="566928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핵심 — 슬라이싱을 능숙하게 하면 이미지 처리의 90%는 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6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2부. 텐서로서의 이미지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차원 순서 — 가장 흔한 'shape mismatch' 에러의 원인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1554480"/>
            <a:ext cx="3017520" cy="54864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57200" y="155448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라이브러리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3474720" y="155448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차원 순서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760720" y="1554480"/>
            <a:ext cx="2743200" cy="54864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760720" y="155448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예시 shape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503920" y="1554480"/>
            <a:ext cx="3200400" cy="54864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503920" y="1554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용도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2103120"/>
            <a:ext cx="3017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210312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NumPy / PIL / OpenCV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474720" y="2103120"/>
            <a:ext cx="22860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566160" y="210312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HWC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5852160" y="21031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(32, 32, 3)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503920" y="2103120"/>
            <a:ext cx="32004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8595360" y="21031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이미지 로드·시각화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57200" y="2651760"/>
            <a:ext cx="30175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48640" y="265176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PyTorch (단일)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474720" y="2651760"/>
            <a:ext cx="22860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3566160" y="265176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CHW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760720" y="2651760"/>
            <a:ext cx="27432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852160" y="2651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(3, 32, 32)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8503920" y="2651760"/>
            <a:ext cx="32004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8595360" y="26517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모델 내부 연산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57200" y="3200400"/>
            <a:ext cx="3017520" cy="548640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48640" y="320040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PyTorch (배치)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474720" y="3200400"/>
            <a:ext cx="2286000" cy="548640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566160" y="32004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NCHW 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760720" y="3200400"/>
            <a:ext cx="2743200" cy="548640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85216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(32, 3, 32, 32)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8595360" y="32004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학습·추론 표준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NumPy → PyTorch 5단계 변환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234440" y="43434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123444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57200" y="4983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PIL → NumPy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57200" y="53492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np.array()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24028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3520440" y="43434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52044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43200" y="4983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NumPy → 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743200" y="53492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torch.from_numpy()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52628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806440" y="43434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580644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029200" y="4983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HWC → CHW 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029200" y="53492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.permute(2, 0,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81228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8092440" y="43434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809244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7315200" y="4983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uint8 → float32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7315200" y="53492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.float() / 255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09828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10378440" y="434340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10378440" y="43434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9601200" y="4983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배치 차원 추가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9601200" y="53492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.unsqueeze(0)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DB504A">
              <a:alpha val="12156"/>
            </a:srgbClr>
          </a:solidFill>
          <a:ln cap="flat" cmpd="sng" w="12700">
            <a:solidFill>
              <a:srgbClr val="DB5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B504A"/>
                </a:solidFill>
                <a:latin typeface="Calibri"/>
                <a:ea typeface="Calibri"/>
                <a:cs typeface="Calibri"/>
                <a:sym typeface="Calibri"/>
              </a:rPr>
              <a:t>가장 흔한 실수 — unsqueeze(0) 깜빡 → "expected 4D tensor but got 3D"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7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permute(): 차원 순서 재배치의 핵심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실습 2-1, 2-2 — image_to_model_input() 함수 분해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57200" y="1463040"/>
            <a:ext cx="640080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640080" y="1691640"/>
            <a:ext cx="61264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def image_to_model_input(pil_image):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arr = np.array(pil_image)         </a:t>
            </a:r>
            <a:r>
              <a:rPr b="0" i="1" lang="en-US" sz="13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(H, W,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 = torch.from_numpy(arr)         </a:t>
            </a:r>
            <a:r>
              <a:rPr b="0" i="1" lang="en-US" sz="13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(H, W, 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t = t.permute(2, 0, 1)            </a:t>
            </a:r>
            <a:r>
              <a:rPr b="0" i="1" lang="en-US" sz="13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★ HWC → CHW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 = t.float() / 255.0             </a:t>
            </a:r>
            <a:r>
              <a:rPr b="0" i="1" lang="en-US" sz="13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0~1 정규화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 = t.unsqueeze(0)                </a:t>
            </a:r>
            <a:r>
              <a:rPr b="0" i="1" lang="en-US" sz="13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(1, 3, H, 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CC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사용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 = image_to_model_input(pil_img)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 = model(x)  </a:t>
            </a:r>
            <a:r>
              <a:rPr b="0" i="1" lang="en-US" sz="1300" u="none" cap="none" strike="noStrike">
                <a:solidFill>
                  <a:srgbClr val="5FAD56"/>
                </a:solidFill>
                <a:latin typeface="Consolas"/>
                <a:ea typeface="Consolas"/>
                <a:cs typeface="Consolas"/>
                <a:sym typeface="Consolas"/>
              </a:rPr>
              <a:t># OK!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7132320" y="1554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permute(2, 0, 1)이 하는 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7132320" y="2011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Before: HWC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132320" y="2377440"/>
            <a:ext cx="1371600" cy="457200"/>
          </a:xfrm>
          <a:prstGeom prst="rect">
            <a:avLst/>
          </a:prstGeom>
          <a:solidFill>
            <a:srgbClr val="9EB3C2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7132320" y="2377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axis 0 = H (32)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8686800" y="2377440"/>
            <a:ext cx="1371600" cy="457200"/>
          </a:xfrm>
          <a:prstGeom prst="rect">
            <a:avLst/>
          </a:prstGeom>
          <a:solidFill>
            <a:srgbClr val="9EB3C2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8686800" y="2377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axis 1 = W (32)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10241280" y="2377440"/>
            <a:ext cx="1371600" cy="457200"/>
          </a:xfrm>
          <a:prstGeom prst="rect">
            <a:avLst/>
          </a:prstGeom>
          <a:solidFill>
            <a:srgbClr val="9EB3C2"/>
          </a:solidFill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10241280" y="2377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axis 2 = C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132320" y="3017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permute(2, 0,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132320" y="3383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7132320" y="3840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After: CHW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7132320" y="4206240"/>
            <a:ext cx="13716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7132320" y="42062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axis 0 = C (3)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686800" y="4206240"/>
            <a:ext cx="13716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8686800" y="42062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axis 1 = H (32)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0241280" y="4206240"/>
            <a:ext cx="13716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10241280" y="42062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axis 2 = W (32)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7132320" y="5029200"/>
            <a:ext cx="4572000" cy="914400"/>
          </a:xfrm>
          <a:prstGeom prst="rect">
            <a:avLst/>
          </a:prstGeom>
          <a:solidFill>
            <a:srgbClr val="065A82">
              <a:alpha val="10196"/>
            </a:srgbClr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7315200" y="5074920"/>
            <a:ext cx="4389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(2, 0, 1) = '2번 차원을 0번으로,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0번을 1번으로, 1번을 2번으로'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 HWC → CHW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8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역변환과 미니 배치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실습 2-3, 2-4 — 모델 출력 시각화 + GPU 효율의 비밀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57200" y="1554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① 역변환: 텐서 → 시각화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57200" y="1965960"/>
            <a:ext cx="5669280" cy="2286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640080" y="2103120"/>
            <a:ext cx="53949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def tensor_to_image(t):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 = t.detach().cpu()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t.dim() == 4: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t = t.squeeze(0)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t = t.permute(1, 2, 0)  </a:t>
            </a:r>
            <a:r>
              <a:rPr b="0" i="1" lang="en-US" sz="12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arr = (t.numpy() * 255)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arr.astype(np.uint8)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57200" y="443484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504A"/>
                </a:solidFill>
                <a:latin typeface="Calibri"/>
                <a:ea typeface="Calibri"/>
                <a:cs typeface="Calibri"/>
                <a:sym typeface="Calibri"/>
              </a:rPr>
              <a:t>⚠️ .detach() = gradient 추적 끊기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504A"/>
                </a:solidFill>
                <a:latin typeface="Calibri"/>
                <a:ea typeface="Calibri"/>
                <a:cs typeface="Calibri"/>
                <a:sym typeface="Calibri"/>
              </a:rPr>
              <a:t>⚠️ .cpu() = GPU → CPU 이동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B504A"/>
                </a:solidFill>
                <a:latin typeface="Calibri"/>
                <a:ea typeface="Calibri"/>
                <a:cs typeface="Calibri"/>
                <a:sym typeface="Calibri"/>
              </a:rPr>
              <a:t>→ 둘 다 안 하면 RuntimeError!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② 미니 배치 = GPU 효율의 비밀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400800" y="1965960"/>
            <a:ext cx="5486400" cy="1463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6583680" y="210312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tensors = []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i in range(8):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img, lbl = trainset[i]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tensors.append(to_tensor(img))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batch = torch.stack(tensors, dim=0)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B3CC"/>
              </a:buClr>
              <a:buSzPts val="1200"/>
              <a:buFont typeface="Consolas"/>
              <a:buNone/>
            </a:pPr>
            <a:r>
              <a:rPr b="0" i="1" lang="en-US" sz="12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(8, 3, 32, 32)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400800" y="3657600"/>
            <a:ext cx="1828800" cy="365760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6400800" y="3657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방식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8229600" y="3657600"/>
            <a:ext cx="1828800" cy="365760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8229600" y="3657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시간/장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10058400" y="3657600"/>
            <a:ext cx="1828800" cy="365760"/>
          </a:xfrm>
          <a:prstGeom prst="rect">
            <a:avLst/>
          </a:prstGeom>
          <a:solidFill>
            <a:srgbClr val="1C729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10058400" y="3657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효율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400800" y="402336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400800" y="4023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1장씩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8229600" y="402336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8229600" y="4023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100ms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10058400" y="4023360"/>
            <a:ext cx="18288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0058400" y="40233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낮음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400800" y="4480560"/>
            <a:ext cx="1828800" cy="4572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6400800" y="4480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배치 32장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8229600" y="4480560"/>
            <a:ext cx="1828800" cy="4572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8229600" y="4480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~120ms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10058400" y="4480560"/>
            <a:ext cx="1828800" cy="4572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10058400" y="44805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★ 32배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400800" y="51206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💡 "GPU는 한 장이나 32장이나 거의 같은 시간" — 그래서 항상 배치로 처리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065A82">
              <a:alpha val="7843"/>
            </a:srgbClr>
          </a:solidFill>
          <a:ln cap="flat" cmpd="sng" w="254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PyTorch 모델은 항상 4D 텐서 (N, C, H, W)를 입력받는다 — 이게 학습/추론의 표준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9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3부. 전처리 — 학습이 안 되는 99%의 원인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정규화 없이는 큰 그래디언트 → 학습 발산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정규화가 학습에 미치는 영향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57200" y="2011680"/>
            <a:ext cx="5394960" cy="3200400"/>
          </a:xfrm>
          <a:prstGeom prst="rect">
            <a:avLst/>
          </a:prstGeom>
          <a:solidFill>
            <a:srgbClr val="DB504A">
              <a:alpha val="7843"/>
            </a:srgbClr>
          </a:solidFill>
          <a:ln cap="flat" cmpd="sng" w="25400">
            <a:solidFill>
              <a:srgbClr val="DB5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B504A"/>
                </a:solidFill>
                <a:latin typeface="Calibri"/>
                <a:ea typeface="Calibri"/>
                <a:cs typeface="Calibri"/>
                <a:sym typeface="Calibri"/>
              </a:rPr>
              <a:t>❌ 정규화 없음 (0~255 그대로)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큰 입력 (예: 250)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822960" y="3017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큰 활성화 출력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822960" y="3474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큰 그래디언트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822960" y="3931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가중치 업데이트 폭발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822960" y="4389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Loss = NaN 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126480" y="2011680"/>
            <a:ext cx="5394960" cy="3200400"/>
          </a:xfrm>
          <a:prstGeom prst="rect">
            <a:avLst/>
          </a:prstGeom>
          <a:solidFill>
            <a:srgbClr val="5FAD56">
              <a:alpha val="7843"/>
            </a:srgbClr>
          </a:solidFill>
          <a:ln cap="flat" cmpd="sng" w="25400">
            <a:solidFill>
              <a:srgbClr val="5FA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6309360" y="2103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D5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AD56"/>
                </a:solidFill>
                <a:latin typeface="Calibri"/>
                <a:ea typeface="Calibri"/>
                <a:cs typeface="Calibri"/>
                <a:sym typeface="Calibri"/>
              </a:rPr>
              <a:t>✅ ImageNet 정규화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492240" y="25603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정규화 입력 (~ -2 ~ +2)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6492240" y="3017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안정적 활성화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492240" y="3474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적절한 그래디언트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492240" y="3931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부드러운 학습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492240" y="4389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수렴 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ImageNet 표준 통계 (외워두세요)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mean = [0.485, 0.456, 0.406]   ·   std = [0.229, 0.224, 0.225]   →   1,400만 장으로 계산된 채널별 통계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10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데이터 증강 (Augmentation)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한 장의 사진을 여러 장처럼 — 일반화의 비결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457200" y="15544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개념: 1장 → 무한히 많은 사진처럼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914400" y="2103120"/>
            <a:ext cx="1645920" cy="164592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914400" y="210312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원본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914400" y="3794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11"/>
          <p:cNvCxnSpPr/>
          <p:nvPr/>
        </p:nvCxnSpPr>
        <p:spPr>
          <a:xfrm>
            <a:off x="2743200" y="2926080"/>
            <a:ext cx="548640" cy="0"/>
          </a:xfrm>
          <a:prstGeom prst="straightConnector1">
            <a:avLst/>
          </a:prstGeom>
          <a:noFill/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" name="Google Shape;390;p11"/>
          <p:cNvSpPr/>
          <p:nvPr/>
        </p:nvSpPr>
        <p:spPr>
          <a:xfrm>
            <a:off x="3474720" y="2103120"/>
            <a:ext cx="914400" cy="914400"/>
          </a:xfrm>
          <a:prstGeom prst="rect">
            <a:avLst/>
          </a:prstGeom>
          <a:solidFill>
            <a:srgbClr val="065A82">
              <a:alpha val="70196"/>
            </a:srgbClr>
          </a:solidFill>
          <a:ln cap="flat" cmpd="sng" w="952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3474720" y="21031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3474720" y="26517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좌우반전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572000" y="2103120"/>
            <a:ext cx="914400" cy="914400"/>
          </a:xfrm>
          <a:prstGeom prst="rect">
            <a:avLst/>
          </a:prstGeom>
          <a:solidFill>
            <a:srgbClr val="065A82">
              <a:alpha val="70196"/>
            </a:srgbClr>
          </a:solidFill>
          <a:ln cap="flat" cmpd="sng" w="952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4572000" y="21031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4572000" y="26517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회전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3474720" y="3200400"/>
            <a:ext cx="914400" cy="914400"/>
          </a:xfrm>
          <a:prstGeom prst="rect">
            <a:avLst/>
          </a:prstGeom>
          <a:solidFill>
            <a:srgbClr val="065A82">
              <a:alpha val="70196"/>
            </a:srgbClr>
          </a:solidFill>
          <a:ln cap="flat" cmpd="sng" w="952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3474720" y="32004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3474720" y="3749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크롭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572000" y="3200400"/>
            <a:ext cx="914400" cy="914400"/>
          </a:xfrm>
          <a:prstGeom prst="rect">
            <a:avLst/>
          </a:prstGeom>
          <a:solidFill>
            <a:srgbClr val="065A82">
              <a:alpha val="70196"/>
            </a:srgbClr>
          </a:solidFill>
          <a:ln cap="flat" cmpd="sng" w="952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4572000" y="32004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4572000" y="3749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색상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3291840" y="42976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D56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5FAD56"/>
                </a:solidFill>
                <a:latin typeface="Calibri"/>
                <a:ea typeface="Calibri"/>
                <a:cs typeface="Calibri"/>
                <a:sym typeface="Calibri"/>
              </a:rPr>
              <a:t>학습 데이터 N배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AD56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5FAD56"/>
                </a:solidFill>
                <a:latin typeface="Calibri"/>
                <a:ea typeface="Calibri"/>
                <a:cs typeface="Calibri"/>
                <a:sym typeface="Calibri"/>
              </a:rPr>
              <a:t>→ 일반화 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6400800" y="1554480"/>
            <a:ext cx="5486400" cy="36576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6583680" y="16459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torchvision.transforms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6583680" y="2103120"/>
            <a:ext cx="52120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train_tf = transforms.Compose([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transforms.RandomHorizontalFlip(p=0.5),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transforms.RandomRotation(15),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transforms.ColorJitter(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brightness=0.2, contrast=0.2),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transforms.ToTensor(),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transforms.Normalize(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    [0.485, 0.456, 0.406],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    [0.229, 0.224, 0.225])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F2A65A">
              <a:alpha val="12156"/>
            </a:srgbClr>
          </a:solidFill>
          <a:ln cap="flat" cmpd="sng" w="254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731520" y="5486400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증강은 학습 데이터에만 적용. 검증/테스트는 원본 그대로!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11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albumentations: 빠른 대안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이름 어원: album(앨범) + augmentations(증강) — 사진 다양화 도구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57200" y="1554480"/>
            <a:ext cx="2286000" cy="5029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457200" y="15544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항목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2743200" y="1554480"/>
            <a:ext cx="4114800" cy="5029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2743200" y="155448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torchvision.transforms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6858000" y="1554480"/>
            <a:ext cx="4846320" cy="502920"/>
          </a:xfrm>
          <a:prstGeom prst="rect">
            <a:avLst/>
          </a:prstGeom>
          <a:solidFill>
            <a:srgbClr val="21295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6858000" y="15544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albumentations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57200" y="2057400"/>
            <a:ext cx="22860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594360" y="20574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속도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2743200" y="205740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2880360" y="20574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보통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6858000" y="2057400"/>
            <a:ext cx="4846320" cy="54864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995160" y="2057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★ 2~3배 빠름 (OpenCV 기반)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57200" y="2606040"/>
            <a:ext cx="22860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594360" y="260604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변형 종류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2743200" y="260604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2880360" y="26060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기본적 (~30종)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858000" y="2606040"/>
            <a:ext cx="48463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995160" y="26060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매우 다양 (70+ 종)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57200" y="3154680"/>
            <a:ext cx="22860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594360" y="3154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객체 탐지/세그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2743200" y="315468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2880360" y="31546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직접 처리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858000" y="3154680"/>
            <a:ext cx="4846320" cy="54864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6995160" y="31546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★ bbox·mask 자동 동기화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457200" y="3703320"/>
            <a:ext cx="22860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594360" y="37033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사용처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743200" y="3703320"/>
            <a:ext cx="411480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2880360" y="37033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분류 입문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858000" y="3703320"/>
            <a:ext cx="4846320" cy="548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6995160" y="3703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Kaggle, 실전 객체 탐지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실제 사용 코드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57200" y="4709160"/>
            <a:ext cx="11247120" cy="15544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640080" y="4800600"/>
            <a:ext cx="10881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import albumentations as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transform = A.Compose([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A.HorizontalFlip(p=0.5),  A.RandomBrightnessContrast(p=0.2),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A.Rotate(limit=15),  A.GaussNoise(),  A.Normalize(),  ToTensorV2()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12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3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3부 정리 + 실습 과제 3-A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전처리 파이프라인 마스터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핵심 정리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1188720" y="1965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정규화는 필수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1188720" y="2331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0~255 → 0~1 → ImageNet 표준화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188720" y="2971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ImageNet 통계 사용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1188720" y="3337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[0.485, 0.456, 0.406] / [0.229, 0.224, 0.225]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457200" y="4023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1188720" y="3977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증강은 학습용만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1188720" y="4343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Train ✓, Val/Test 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457200" y="502920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45720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1188720" y="4983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순서가 중요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1188720" y="5349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PIL 변형 → ToTensor → Normalize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2A65A"/>
                </a:solidFill>
                <a:latin typeface="Cambria"/>
                <a:ea typeface="Cambria"/>
                <a:cs typeface="Cambria"/>
                <a:sym typeface="Cambria"/>
              </a:rPr>
              <a:t>✏️ 실습 과제 3-A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583680" y="20574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224×224 출력으로 transforms 파이프라인 작성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6583680" y="2468880"/>
            <a:ext cx="5120640" cy="34747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6766560" y="260604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my_transform = transforms.Compose([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transforms.Resize((224, 224)),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transforms.RandomHorizontalFlip(p=0.3),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transforms.RandomRotation(degrees=10),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onsolas"/>
                <a:ea typeface="Consolas"/>
                <a:cs typeface="Consolas"/>
                <a:sym typeface="Consolas"/>
              </a:rPr>
              <a:t>    transforms.ToTensor(),  </a:t>
            </a:r>
            <a:r>
              <a:rPr b="0" i="1" lang="en-US" sz="1200" u="none" cap="none" strike="noStrike">
                <a:solidFill>
                  <a:srgbClr val="8FB3CC"/>
                </a:solidFill>
                <a:latin typeface="Consolas"/>
                <a:ea typeface="Consolas"/>
                <a:cs typeface="Consolas"/>
                <a:sym typeface="Consolas"/>
              </a:rPr>
              <a:t># ★ 순서!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transforms.Normalize(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mean=[0.485, 0.456, 0.406],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std=[0.229, 0.224, 0.225])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💡 ToTensor 이전 = PIL Image, 이후 = Tensor (Normalize는 Tensor에서만 동작)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13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4부. 왜 이미지에는 CNN인가?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MLP는 이미지를 일렬로 펼친다 — 공간 정보가 사라진다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DB504A"/>
                </a:solidFill>
                <a:latin typeface="Cambria"/>
                <a:ea typeface="Cambria"/>
                <a:cs typeface="Cambria"/>
                <a:sym typeface="Cambria"/>
              </a:rPr>
              <a:t>❌ MLP 방식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457200" y="2011680"/>
            <a:ext cx="1828800" cy="1828800"/>
          </a:xfrm>
          <a:prstGeom prst="rect">
            <a:avLst/>
          </a:prstGeom>
          <a:solidFill>
            <a:srgbClr val="9EB3C2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457200" y="201168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28×28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이미지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228600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2743200" y="2468880"/>
            <a:ext cx="3108960" cy="914400"/>
          </a:xfrm>
          <a:prstGeom prst="rect">
            <a:avLst/>
          </a:prstGeom>
          <a:solidFill>
            <a:srgbClr val="DB504A">
              <a:alpha val="40000"/>
            </a:srgbClr>
          </a:solidFill>
          <a:ln cap="flat" cmpd="sng" w="12700">
            <a:solidFill>
              <a:srgbClr val="DB5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2743200" y="24688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[0,1,1,0,...,1]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784차원 벡터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solidFill>
            <a:srgbClr val="DB504A">
              <a:alpha val="7843"/>
            </a:srgbClr>
          </a:solidFill>
          <a:ln cap="flat" cmpd="sng" w="12700">
            <a:solidFill>
              <a:srgbClr val="DB5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B504A"/>
                </a:solidFill>
                <a:latin typeface="Calibri"/>
                <a:ea typeface="Calibri"/>
                <a:cs typeface="Calibri"/>
                <a:sym typeface="Calibri"/>
              </a:rPr>
              <a:t>문제 3가지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공간 정보 파괴 — 인접 픽셀 관계 손실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822960" y="50292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파라미터 폭발 — 224² → 512: 25M개!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822960" y="55321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위치 변화에 취약 — 좌상단 != 우하단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D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5FAD56"/>
                </a:solidFill>
                <a:latin typeface="Cambria"/>
                <a:ea typeface="Cambria"/>
                <a:cs typeface="Cambria"/>
                <a:sym typeface="Cambria"/>
              </a:rPr>
              <a:t>✅ CNN 방식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400800" y="2011680"/>
            <a:ext cx="1828800" cy="1828800"/>
          </a:xfrm>
          <a:prstGeom prst="rect">
            <a:avLst/>
          </a:prstGeom>
          <a:solidFill>
            <a:srgbClr val="9EB3C2"/>
          </a:solidFill>
          <a:ln cap="flat" cmpd="sng" w="127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6400800" y="201168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28×28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이미지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22960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8686800" y="2011680"/>
            <a:ext cx="3200400" cy="1828800"/>
          </a:xfrm>
          <a:prstGeom prst="rect">
            <a:avLst/>
          </a:prstGeom>
          <a:solidFill>
            <a:srgbClr val="5FAD56">
              <a:alpha val="40000"/>
            </a:srgbClr>
          </a:solidFill>
          <a:ln cap="flat" cmpd="sng" w="12700">
            <a:solidFill>
              <a:srgbClr val="5FA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8686800" y="201168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2D 그대로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(Conv 처리)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6400800" y="4023360"/>
            <a:ext cx="5486400" cy="2286000"/>
          </a:xfrm>
          <a:prstGeom prst="rect">
            <a:avLst/>
          </a:prstGeom>
          <a:solidFill>
            <a:srgbClr val="5FAD56">
              <a:alpha val="7843"/>
            </a:srgbClr>
          </a:solidFill>
          <a:ln cap="flat" cmpd="sng" w="12700">
            <a:solidFill>
              <a:srgbClr val="5FA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6583680" y="4114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D5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AD56"/>
                </a:solidFill>
                <a:latin typeface="Calibri"/>
                <a:ea typeface="Calibri"/>
                <a:cs typeface="Calibri"/>
                <a:sym typeface="Calibri"/>
              </a:rPr>
              <a:t>CNN 3대 원리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766560" y="45262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Spatial Locality — 공간 구조 보존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6766560" y="50292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Parameter Sharing — 같은 필터 재사용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766560" y="55321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Translation Invariance — 위치 변해도 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14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5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MLP vs CNN — 정량 비교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실습 4-2, 4-3, 4-4 — 같은 문제에 두 모델 동시 학습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8" name="Google Shape;518;p15"/>
          <p:cNvGraphicFramePr/>
          <p:nvPr/>
        </p:nvGraphicFramePr>
        <p:xfrm>
          <a:off x="457200" y="1554480"/>
          <a:ext cx="5669280" cy="27432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19" name="Google Shape;519;p15"/>
          <p:cNvGraphicFramePr/>
          <p:nvPr/>
        </p:nvGraphicFramePr>
        <p:xfrm>
          <a:off x="6400800" y="1554480"/>
          <a:ext cx="5486400" cy="27432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520" name="Google Shape;520;p15"/>
          <p:cNvSpPr/>
          <p:nvPr/>
        </p:nvSpPr>
        <p:spPr>
          <a:xfrm>
            <a:off x="457200" y="4572000"/>
            <a:ext cx="11247120" cy="1783080"/>
          </a:xfrm>
          <a:prstGeom prst="rect">
            <a:avLst/>
          </a:prstGeom>
          <a:solidFill>
            <a:srgbClr val="065A82">
              <a:alpha val="7843"/>
            </a:srgbClr>
          </a:solidFill>
          <a:ln cap="flat" cmpd="sng" w="254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결과 해석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822960" y="507492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CNN이 MLP의 절반 파라미터로 더 좋은 성능을 낸다 (구조적 효율)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정확도 차이는 작아 보여도 에러율로는 절반 (5% → 2%) — 실전에선 큰 차이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✓ 이 차이의 본질: CNN의 inductive bias = 'Translation Invariance'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15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6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★ Translation Invariance 직접 검증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실습 4-6 — 이미지를 옮겨도 CNN은 안정적, MLP는 폭락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1" name="Google Shape;531;p16"/>
          <p:cNvGraphicFramePr/>
          <p:nvPr/>
        </p:nvGraphicFramePr>
        <p:xfrm>
          <a:off x="457200" y="1554480"/>
          <a:ext cx="731520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32" name="Google Shape;532;p16"/>
          <p:cNvSpPr/>
          <p:nvPr/>
        </p:nvSpPr>
        <p:spPr>
          <a:xfrm>
            <a:off x="8046720" y="1554480"/>
            <a:ext cx="3840480" cy="1828800"/>
          </a:xfrm>
          <a:prstGeom prst="rect">
            <a:avLst/>
          </a:prstGeom>
          <a:solidFill>
            <a:srgbClr val="DB504A">
              <a:alpha val="12156"/>
            </a:srgbClr>
          </a:solidFill>
          <a:ln cap="flat" cmpd="sng" w="25400">
            <a:solidFill>
              <a:srgbClr val="DB5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8229600" y="16459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504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DB504A"/>
                </a:solidFill>
                <a:latin typeface="Cambria"/>
                <a:ea typeface="Cambria"/>
                <a:cs typeface="Cambria"/>
                <a:sym typeface="Cambria"/>
              </a:rPr>
              <a:t>MLP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8229600" y="20116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이미지를 옮기면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신뢰도 폭락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8229600" y="269748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→ 위치마다 다른 모델로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인식하는 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8046720" y="3611880"/>
            <a:ext cx="3840480" cy="2057400"/>
          </a:xfrm>
          <a:prstGeom prst="rect">
            <a:avLst/>
          </a:prstGeom>
          <a:solidFill>
            <a:srgbClr val="5FAD56">
              <a:alpha val="12156"/>
            </a:srgbClr>
          </a:solidFill>
          <a:ln cap="flat" cmpd="sng" w="25400">
            <a:solidFill>
              <a:srgbClr val="5FA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"/>
          <p:cNvSpPr/>
          <p:nvPr/>
        </p:nvSpPr>
        <p:spPr>
          <a:xfrm>
            <a:off x="8229600" y="3703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AD5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5FAD56"/>
                </a:solidFill>
                <a:latin typeface="Cambria"/>
                <a:ea typeface="Cambria"/>
                <a:cs typeface="Cambria"/>
                <a:sym typeface="Cambria"/>
              </a:rPr>
              <a:t>CNN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8229600" y="406908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이미지를 옮겨도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안정적 신뢰도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8229600" y="475488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→ Conv 필터가 위치 무관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같은 패턴을 검출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(Translation Invariance)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"이게 CNN이 이미지에 강한 본질적 이유. 데이터를 통해 직접 검증한 결과."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16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7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CNN이 학습한 32개 필터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실습 4-7 — '사람이 설계하지 않은 자동 발견'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640080" y="1645920"/>
            <a:ext cx="167640" cy="167640"/>
          </a:xfrm>
          <a:prstGeom prst="rect">
            <a:avLst/>
          </a:prstGeom>
          <a:solidFill>
            <a:srgbClr val="00000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7"/>
          <p:cNvSpPr/>
          <p:nvPr/>
        </p:nvSpPr>
        <p:spPr>
          <a:xfrm>
            <a:off x="807720" y="1645920"/>
            <a:ext cx="167640" cy="167640"/>
          </a:xfrm>
          <a:prstGeom prst="rect">
            <a:avLst/>
          </a:prstGeom>
          <a:solidFill>
            <a:srgbClr val="EBEBE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975360" y="1645920"/>
            <a:ext cx="167640" cy="167640"/>
          </a:xfrm>
          <a:prstGeom prst="rect">
            <a:avLst/>
          </a:prstGeom>
          <a:solidFill>
            <a:srgbClr val="D6D6D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640080" y="1813560"/>
            <a:ext cx="167640" cy="167640"/>
          </a:xfrm>
          <a:prstGeom prst="rect">
            <a:avLst/>
          </a:prstGeom>
          <a:solidFill>
            <a:srgbClr val="8D8D8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807720" y="1813560"/>
            <a:ext cx="167640" cy="167640"/>
          </a:xfrm>
          <a:prstGeom prst="rect">
            <a:avLst/>
          </a:prstGeom>
          <a:solidFill>
            <a:srgbClr val="78787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975360" y="1813560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640080" y="1981200"/>
            <a:ext cx="167640" cy="167640"/>
          </a:xfrm>
          <a:prstGeom prst="rect">
            <a:avLst/>
          </a:prstGeom>
          <a:solidFill>
            <a:srgbClr val="1A1A1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807720" y="1981200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975360" y="1981200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1216152" y="1645920"/>
            <a:ext cx="502920" cy="502920"/>
          </a:xfrm>
          <a:prstGeom prst="rect">
            <a:avLst/>
          </a:prstGeom>
          <a:solidFill>
            <a:srgbClr val="1C7293">
              <a:alpha val="92941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1216152" y="1645920"/>
            <a:ext cx="167640" cy="167640"/>
          </a:xfrm>
          <a:prstGeom prst="rect">
            <a:avLst/>
          </a:prstGeom>
          <a:solidFill>
            <a:srgbClr val="2F2F2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1383792" y="1645920"/>
            <a:ext cx="167640" cy="167640"/>
          </a:xfrm>
          <a:prstGeom prst="rect">
            <a:avLst/>
          </a:prstGeom>
          <a:solidFill>
            <a:srgbClr val="1A1A1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"/>
          <p:cNvSpPr/>
          <p:nvPr/>
        </p:nvSpPr>
        <p:spPr>
          <a:xfrm>
            <a:off x="1551432" y="1645920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1216152" y="1813560"/>
            <a:ext cx="167640" cy="167640"/>
          </a:xfrm>
          <a:prstGeom prst="rect">
            <a:avLst/>
          </a:prstGeom>
          <a:solidFill>
            <a:srgbClr val="BCBCB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7"/>
          <p:cNvSpPr/>
          <p:nvPr/>
        </p:nvSpPr>
        <p:spPr>
          <a:xfrm>
            <a:off x="1383792" y="1813560"/>
            <a:ext cx="167640" cy="167640"/>
          </a:xfrm>
          <a:prstGeom prst="rect">
            <a:avLst/>
          </a:prstGeom>
          <a:solidFill>
            <a:srgbClr val="A7A7A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7"/>
          <p:cNvSpPr/>
          <p:nvPr/>
        </p:nvSpPr>
        <p:spPr>
          <a:xfrm>
            <a:off x="1551432" y="1813560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1216152" y="1981200"/>
            <a:ext cx="167640" cy="167640"/>
          </a:xfrm>
          <a:prstGeom prst="rect">
            <a:avLst/>
          </a:prstGeom>
          <a:solidFill>
            <a:srgbClr val="49494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1383792" y="1981200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7"/>
          <p:cNvSpPr/>
          <p:nvPr/>
        </p:nvSpPr>
        <p:spPr>
          <a:xfrm>
            <a:off x="1551432" y="1981200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1792224" y="1645920"/>
            <a:ext cx="502920" cy="502920"/>
          </a:xfrm>
          <a:prstGeom prst="rect">
            <a:avLst/>
          </a:prstGeom>
          <a:solidFill>
            <a:srgbClr val="DB504A">
              <a:alpha val="85882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7"/>
          <p:cNvSpPr/>
          <p:nvPr/>
        </p:nvSpPr>
        <p:spPr>
          <a:xfrm>
            <a:off x="1792224" y="1645920"/>
            <a:ext cx="167640" cy="167640"/>
          </a:xfrm>
          <a:prstGeom prst="rect">
            <a:avLst/>
          </a:prstGeom>
          <a:solidFill>
            <a:srgbClr val="5E5E5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7"/>
          <p:cNvSpPr/>
          <p:nvPr/>
        </p:nvSpPr>
        <p:spPr>
          <a:xfrm>
            <a:off x="1959864" y="1645920"/>
            <a:ext cx="167640" cy="167640"/>
          </a:xfrm>
          <a:prstGeom prst="rect">
            <a:avLst/>
          </a:prstGeom>
          <a:solidFill>
            <a:srgbClr val="49494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2127504" y="1645920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7"/>
          <p:cNvSpPr/>
          <p:nvPr/>
        </p:nvSpPr>
        <p:spPr>
          <a:xfrm>
            <a:off x="1792224" y="1813560"/>
            <a:ext cx="167640" cy="167640"/>
          </a:xfrm>
          <a:prstGeom prst="rect">
            <a:avLst/>
          </a:prstGeom>
          <a:solidFill>
            <a:srgbClr val="EBEBE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1959864" y="1813560"/>
            <a:ext cx="167640" cy="167640"/>
          </a:xfrm>
          <a:prstGeom prst="rect">
            <a:avLst/>
          </a:prstGeom>
          <a:solidFill>
            <a:srgbClr val="D6D6D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7"/>
          <p:cNvSpPr/>
          <p:nvPr/>
        </p:nvSpPr>
        <p:spPr>
          <a:xfrm>
            <a:off x="2127504" y="1813560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1792224" y="1981200"/>
            <a:ext cx="167640" cy="167640"/>
          </a:xfrm>
          <a:prstGeom prst="rect">
            <a:avLst/>
          </a:prstGeom>
          <a:solidFill>
            <a:srgbClr val="78787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7"/>
          <p:cNvSpPr/>
          <p:nvPr/>
        </p:nvSpPr>
        <p:spPr>
          <a:xfrm>
            <a:off x="1959864" y="1981200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"/>
          <p:cNvSpPr/>
          <p:nvPr/>
        </p:nvSpPr>
        <p:spPr>
          <a:xfrm>
            <a:off x="2127504" y="1981200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2368296" y="1645920"/>
            <a:ext cx="502920" cy="502920"/>
          </a:xfrm>
          <a:prstGeom prst="rect">
            <a:avLst/>
          </a:prstGeom>
          <a:solidFill>
            <a:srgbClr val="5FAD56">
              <a:alpha val="78823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7"/>
          <p:cNvSpPr/>
          <p:nvPr/>
        </p:nvSpPr>
        <p:spPr>
          <a:xfrm>
            <a:off x="2368296" y="1645920"/>
            <a:ext cx="167640" cy="167640"/>
          </a:xfrm>
          <a:prstGeom prst="rect">
            <a:avLst/>
          </a:prstGeom>
          <a:solidFill>
            <a:srgbClr val="8D8D8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7"/>
          <p:cNvSpPr/>
          <p:nvPr/>
        </p:nvSpPr>
        <p:spPr>
          <a:xfrm>
            <a:off x="2535936" y="1645920"/>
            <a:ext cx="167640" cy="167640"/>
          </a:xfrm>
          <a:prstGeom prst="rect">
            <a:avLst/>
          </a:prstGeom>
          <a:solidFill>
            <a:srgbClr val="78787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2703576" y="1645920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"/>
          <p:cNvSpPr/>
          <p:nvPr/>
        </p:nvSpPr>
        <p:spPr>
          <a:xfrm>
            <a:off x="2368296" y="1813560"/>
            <a:ext cx="167640" cy="167640"/>
          </a:xfrm>
          <a:prstGeom prst="rect">
            <a:avLst/>
          </a:prstGeom>
          <a:solidFill>
            <a:srgbClr val="1A1A1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2535936" y="1813560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2703576" y="1813560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7"/>
          <p:cNvSpPr/>
          <p:nvPr/>
        </p:nvSpPr>
        <p:spPr>
          <a:xfrm>
            <a:off x="2368296" y="1981200"/>
            <a:ext cx="167640" cy="167640"/>
          </a:xfrm>
          <a:prstGeom prst="rect">
            <a:avLst/>
          </a:prstGeom>
          <a:solidFill>
            <a:srgbClr val="A7A7A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2535936" y="1981200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2703576" y="1981200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2944368" y="1645920"/>
            <a:ext cx="502920" cy="502920"/>
          </a:xfrm>
          <a:prstGeom prst="rect">
            <a:avLst/>
          </a:prstGeom>
          <a:solidFill>
            <a:srgbClr val="F2A65A">
              <a:alpha val="72156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2944368" y="1645920"/>
            <a:ext cx="167640" cy="167640"/>
          </a:xfrm>
          <a:prstGeom prst="rect">
            <a:avLst/>
          </a:prstGeom>
          <a:solidFill>
            <a:srgbClr val="BCBCB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/>
          <p:nvPr/>
        </p:nvSpPr>
        <p:spPr>
          <a:xfrm>
            <a:off x="3112008" y="1645920"/>
            <a:ext cx="167640" cy="167640"/>
          </a:xfrm>
          <a:prstGeom prst="rect">
            <a:avLst/>
          </a:prstGeom>
          <a:solidFill>
            <a:srgbClr val="A7A7A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7"/>
          <p:cNvSpPr/>
          <p:nvPr/>
        </p:nvSpPr>
        <p:spPr>
          <a:xfrm>
            <a:off x="3279648" y="1645920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2944368" y="1813560"/>
            <a:ext cx="167640" cy="167640"/>
          </a:xfrm>
          <a:prstGeom prst="rect">
            <a:avLst/>
          </a:prstGeom>
          <a:solidFill>
            <a:srgbClr val="49494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3112008" y="1813560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7"/>
          <p:cNvSpPr/>
          <p:nvPr/>
        </p:nvSpPr>
        <p:spPr>
          <a:xfrm>
            <a:off x="3279648" y="1813560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7"/>
          <p:cNvSpPr/>
          <p:nvPr/>
        </p:nvSpPr>
        <p:spPr>
          <a:xfrm>
            <a:off x="2944368" y="1981200"/>
            <a:ext cx="167640" cy="167640"/>
          </a:xfrm>
          <a:prstGeom prst="rect">
            <a:avLst/>
          </a:prstGeom>
          <a:solidFill>
            <a:srgbClr val="D6D6D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7"/>
          <p:cNvSpPr/>
          <p:nvPr/>
        </p:nvSpPr>
        <p:spPr>
          <a:xfrm>
            <a:off x="3112008" y="1981200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3279648" y="1981200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3520440" y="1645920"/>
            <a:ext cx="502920" cy="502920"/>
          </a:xfrm>
          <a:prstGeom prst="rect">
            <a:avLst/>
          </a:prstGeom>
          <a:solidFill>
            <a:srgbClr val="21295C">
              <a:alpha val="65098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7"/>
          <p:cNvSpPr/>
          <p:nvPr/>
        </p:nvSpPr>
        <p:spPr>
          <a:xfrm>
            <a:off x="3520440" y="1645920"/>
            <a:ext cx="167640" cy="167640"/>
          </a:xfrm>
          <a:prstGeom prst="rect">
            <a:avLst/>
          </a:prstGeom>
          <a:solidFill>
            <a:srgbClr val="EBEBE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7"/>
          <p:cNvSpPr/>
          <p:nvPr/>
        </p:nvSpPr>
        <p:spPr>
          <a:xfrm>
            <a:off x="3688080" y="1645920"/>
            <a:ext cx="167640" cy="167640"/>
          </a:xfrm>
          <a:prstGeom prst="rect">
            <a:avLst/>
          </a:prstGeom>
          <a:solidFill>
            <a:srgbClr val="D6D6D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3855720" y="1645920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3520440" y="1813560"/>
            <a:ext cx="167640" cy="167640"/>
          </a:xfrm>
          <a:prstGeom prst="rect">
            <a:avLst/>
          </a:prstGeom>
          <a:solidFill>
            <a:srgbClr val="78787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3688080" y="1813560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7"/>
          <p:cNvSpPr/>
          <p:nvPr/>
        </p:nvSpPr>
        <p:spPr>
          <a:xfrm>
            <a:off x="3855720" y="1813560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3520440" y="1981200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3688080" y="1981200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3855720" y="1981200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4096512" y="1645920"/>
            <a:ext cx="502920" cy="502920"/>
          </a:xfrm>
          <a:prstGeom prst="rect">
            <a:avLst/>
          </a:prstGeom>
          <a:solidFill>
            <a:srgbClr val="9EB3C2">
              <a:alpha val="58039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"/>
          <p:cNvSpPr/>
          <p:nvPr/>
        </p:nvSpPr>
        <p:spPr>
          <a:xfrm>
            <a:off x="4096512" y="1645920"/>
            <a:ext cx="167640" cy="167640"/>
          </a:xfrm>
          <a:prstGeom prst="rect">
            <a:avLst/>
          </a:prstGeom>
          <a:solidFill>
            <a:srgbClr val="1A1A1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4264152" y="1645920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4431792" y="1645920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>
            <a:off x="4096512" y="1813560"/>
            <a:ext cx="167640" cy="167640"/>
          </a:xfrm>
          <a:prstGeom prst="rect">
            <a:avLst/>
          </a:prstGeom>
          <a:solidFill>
            <a:srgbClr val="A7A7A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4264152" y="1813560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4431792" y="1813560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4096512" y="1981200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4264152" y="1981200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7"/>
          <p:cNvSpPr/>
          <p:nvPr/>
        </p:nvSpPr>
        <p:spPr>
          <a:xfrm>
            <a:off x="4431792" y="1981200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4672584" y="1645920"/>
            <a:ext cx="502920" cy="502920"/>
          </a:xfrm>
          <a:prstGeom prst="rect">
            <a:avLst/>
          </a:prstGeom>
          <a:solidFill>
            <a:srgbClr val="8FB3CC">
              <a:alpha val="50980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7"/>
          <p:cNvSpPr/>
          <p:nvPr/>
        </p:nvSpPr>
        <p:spPr>
          <a:xfrm>
            <a:off x="4672584" y="1645920"/>
            <a:ext cx="167640" cy="167640"/>
          </a:xfrm>
          <a:prstGeom prst="rect">
            <a:avLst/>
          </a:prstGeom>
          <a:solidFill>
            <a:srgbClr val="49494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4840224" y="1645920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5007864" y="1645920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4672584" y="1813560"/>
            <a:ext cx="167640" cy="167640"/>
          </a:xfrm>
          <a:prstGeom prst="rect">
            <a:avLst/>
          </a:prstGeom>
          <a:solidFill>
            <a:srgbClr val="D6D6D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7"/>
          <p:cNvSpPr/>
          <p:nvPr/>
        </p:nvSpPr>
        <p:spPr>
          <a:xfrm>
            <a:off x="4840224" y="1813560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5007864" y="1813560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7"/>
          <p:cNvSpPr/>
          <p:nvPr/>
        </p:nvSpPr>
        <p:spPr>
          <a:xfrm>
            <a:off x="4672584" y="1981200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4840224" y="1981200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7"/>
          <p:cNvSpPr/>
          <p:nvPr/>
        </p:nvSpPr>
        <p:spPr>
          <a:xfrm>
            <a:off x="5007864" y="1981200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640080" y="2221992"/>
            <a:ext cx="502920" cy="502920"/>
          </a:xfrm>
          <a:prstGeom prst="rect">
            <a:avLst/>
          </a:prstGeom>
          <a:solidFill>
            <a:srgbClr val="065A82">
              <a:alpha val="43921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640080" y="2221992"/>
            <a:ext cx="167640" cy="167640"/>
          </a:xfrm>
          <a:prstGeom prst="rect">
            <a:avLst/>
          </a:prstGeom>
          <a:solidFill>
            <a:srgbClr val="78787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807720" y="2221992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975360" y="2221992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640080" y="2389632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807720" y="2389632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7"/>
          <p:cNvSpPr/>
          <p:nvPr/>
        </p:nvSpPr>
        <p:spPr>
          <a:xfrm>
            <a:off x="975360" y="2389632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640080" y="2557272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807720" y="2557272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975360" y="2557272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1216152" y="2221992"/>
            <a:ext cx="502920" cy="502920"/>
          </a:xfrm>
          <a:prstGeom prst="rect">
            <a:avLst/>
          </a:prstGeom>
          <a:solidFill>
            <a:srgbClr val="1C7293">
              <a:alpha val="96862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1216152" y="2221992"/>
            <a:ext cx="167640" cy="167640"/>
          </a:xfrm>
          <a:prstGeom prst="rect">
            <a:avLst/>
          </a:prstGeom>
          <a:solidFill>
            <a:srgbClr val="A7A7A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7"/>
          <p:cNvSpPr/>
          <p:nvPr/>
        </p:nvSpPr>
        <p:spPr>
          <a:xfrm>
            <a:off x="1383792" y="2221992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7"/>
          <p:cNvSpPr/>
          <p:nvPr/>
        </p:nvSpPr>
        <p:spPr>
          <a:xfrm>
            <a:off x="1551432" y="2221992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1216152" y="2389632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7"/>
          <p:cNvSpPr/>
          <p:nvPr/>
        </p:nvSpPr>
        <p:spPr>
          <a:xfrm>
            <a:off x="1383792" y="2389632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7"/>
          <p:cNvSpPr/>
          <p:nvPr/>
        </p:nvSpPr>
        <p:spPr>
          <a:xfrm>
            <a:off x="1551432" y="2389632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1216152" y="2557272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7"/>
          <p:cNvSpPr/>
          <p:nvPr/>
        </p:nvSpPr>
        <p:spPr>
          <a:xfrm>
            <a:off x="1383792" y="2557272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7"/>
          <p:cNvSpPr/>
          <p:nvPr/>
        </p:nvSpPr>
        <p:spPr>
          <a:xfrm>
            <a:off x="1551432" y="2557272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7"/>
          <p:cNvSpPr/>
          <p:nvPr/>
        </p:nvSpPr>
        <p:spPr>
          <a:xfrm>
            <a:off x="1792224" y="2221992"/>
            <a:ext cx="502920" cy="502920"/>
          </a:xfrm>
          <a:prstGeom prst="rect">
            <a:avLst/>
          </a:prstGeom>
          <a:solidFill>
            <a:srgbClr val="DB504A">
              <a:alpha val="90196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7"/>
          <p:cNvSpPr/>
          <p:nvPr/>
        </p:nvSpPr>
        <p:spPr>
          <a:xfrm>
            <a:off x="1792224" y="2221992"/>
            <a:ext cx="167640" cy="167640"/>
          </a:xfrm>
          <a:prstGeom prst="rect">
            <a:avLst/>
          </a:prstGeom>
          <a:solidFill>
            <a:srgbClr val="D6D6D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7"/>
          <p:cNvSpPr/>
          <p:nvPr/>
        </p:nvSpPr>
        <p:spPr>
          <a:xfrm>
            <a:off x="1959864" y="2221992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2127504" y="2221992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1792224" y="2389632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7"/>
          <p:cNvSpPr/>
          <p:nvPr/>
        </p:nvSpPr>
        <p:spPr>
          <a:xfrm>
            <a:off x="1959864" y="2389632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2127504" y="2389632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1792224" y="2557272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7"/>
          <p:cNvSpPr/>
          <p:nvPr/>
        </p:nvSpPr>
        <p:spPr>
          <a:xfrm>
            <a:off x="1959864" y="2557272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2127504" y="2557272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7"/>
          <p:cNvSpPr/>
          <p:nvPr/>
        </p:nvSpPr>
        <p:spPr>
          <a:xfrm>
            <a:off x="2368296" y="2221992"/>
            <a:ext cx="502920" cy="502920"/>
          </a:xfrm>
          <a:prstGeom prst="rect">
            <a:avLst/>
          </a:prstGeom>
          <a:solidFill>
            <a:srgbClr val="5FAD56">
              <a:alpha val="83137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7"/>
          <p:cNvSpPr/>
          <p:nvPr/>
        </p:nvSpPr>
        <p:spPr>
          <a:xfrm>
            <a:off x="2368296" y="2221992"/>
            <a:ext cx="167640" cy="167640"/>
          </a:xfrm>
          <a:prstGeom prst="rect">
            <a:avLst/>
          </a:prstGeom>
          <a:solidFill>
            <a:srgbClr val="05050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2535936" y="2221992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"/>
          <p:cNvSpPr/>
          <p:nvPr/>
        </p:nvSpPr>
        <p:spPr>
          <a:xfrm>
            <a:off x="2703576" y="2221992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2368296" y="2389632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7"/>
          <p:cNvSpPr/>
          <p:nvPr/>
        </p:nvSpPr>
        <p:spPr>
          <a:xfrm>
            <a:off x="2535936" y="2389632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2703576" y="2389632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7"/>
          <p:cNvSpPr/>
          <p:nvPr/>
        </p:nvSpPr>
        <p:spPr>
          <a:xfrm>
            <a:off x="2368296" y="2557272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2535936" y="2557272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/>
          <p:nvPr/>
        </p:nvSpPr>
        <p:spPr>
          <a:xfrm>
            <a:off x="2703576" y="2557272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7"/>
          <p:cNvSpPr/>
          <p:nvPr/>
        </p:nvSpPr>
        <p:spPr>
          <a:xfrm>
            <a:off x="2944368" y="2221992"/>
            <a:ext cx="502920" cy="502920"/>
          </a:xfrm>
          <a:prstGeom prst="rect">
            <a:avLst/>
          </a:prstGeom>
          <a:solidFill>
            <a:srgbClr val="F2A65A">
              <a:alpha val="76078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7"/>
          <p:cNvSpPr/>
          <p:nvPr/>
        </p:nvSpPr>
        <p:spPr>
          <a:xfrm>
            <a:off x="2944368" y="2221992"/>
            <a:ext cx="167640" cy="167640"/>
          </a:xfrm>
          <a:prstGeom prst="rect">
            <a:avLst/>
          </a:prstGeom>
          <a:solidFill>
            <a:srgbClr val="34343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3112008" y="2221992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3279648" y="2221992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2944368" y="2389632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7"/>
          <p:cNvSpPr/>
          <p:nvPr/>
        </p:nvSpPr>
        <p:spPr>
          <a:xfrm>
            <a:off x="3112008" y="2389632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7"/>
          <p:cNvSpPr/>
          <p:nvPr/>
        </p:nvSpPr>
        <p:spPr>
          <a:xfrm>
            <a:off x="3279648" y="2389632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7"/>
          <p:cNvSpPr/>
          <p:nvPr/>
        </p:nvSpPr>
        <p:spPr>
          <a:xfrm>
            <a:off x="2944368" y="2557272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7"/>
          <p:cNvSpPr/>
          <p:nvPr/>
        </p:nvSpPr>
        <p:spPr>
          <a:xfrm>
            <a:off x="3112008" y="2557272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7"/>
          <p:cNvSpPr/>
          <p:nvPr/>
        </p:nvSpPr>
        <p:spPr>
          <a:xfrm>
            <a:off x="3279648" y="2557272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7"/>
          <p:cNvSpPr/>
          <p:nvPr/>
        </p:nvSpPr>
        <p:spPr>
          <a:xfrm>
            <a:off x="3520440" y="2221992"/>
            <a:ext cx="502920" cy="502920"/>
          </a:xfrm>
          <a:prstGeom prst="rect">
            <a:avLst/>
          </a:prstGeom>
          <a:solidFill>
            <a:srgbClr val="21295C">
              <a:alpha val="69019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7"/>
          <p:cNvSpPr/>
          <p:nvPr/>
        </p:nvSpPr>
        <p:spPr>
          <a:xfrm>
            <a:off x="3520440" y="2221992"/>
            <a:ext cx="167640" cy="167640"/>
          </a:xfrm>
          <a:prstGeom prst="rect">
            <a:avLst/>
          </a:prstGeom>
          <a:solidFill>
            <a:srgbClr val="63636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7"/>
          <p:cNvSpPr/>
          <p:nvPr/>
        </p:nvSpPr>
        <p:spPr>
          <a:xfrm>
            <a:off x="3688080" y="2221992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7"/>
          <p:cNvSpPr/>
          <p:nvPr/>
        </p:nvSpPr>
        <p:spPr>
          <a:xfrm>
            <a:off x="3855720" y="2221992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7"/>
          <p:cNvSpPr/>
          <p:nvPr/>
        </p:nvSpPr>
        <p:spPr>
          <a:xfrm>
            <a:off x="3520440" y="2389632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7"/>
          <p:cNvSpPr/>
          <p:nvPr/>
        </p:nvSpPr>
        <p:spPr>
          <a:xfrm>
            <a:off x="3688080" y="2389632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7"/>
          <p:cNvSpPr/>
          <p:nvPr/>
        </p:nvSpPr>
        <p:spPr>
          <a:xfrm>
            <a:off x="3855720" y="2389632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7"/>
          <p:cNvSpPr/>
          <p:nvPr/>
        </p:nvSpPr>
        <p:spPr>
          <a:xfrm>
            <a:off x="3520440" y="2557272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7"/>
          <p:cNvSpPr/>
          <p:nvPr/>
        </p:nvSpPr>
        <p:spPr>
          <a:xfrm>
            <a:off x="3688080" y="2557272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7"/>
          <p:cNvSpPr/>
          <p:nvPr/>
        </p:nvSpPr>
        <p:spPr>
          <a:xfrm>
            <a:off x="3855720" y="2557272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7"/>
          <p:cNvSpPr/>
          <p:nvPr/>
        </p:nvSpPr>
        <p:spPr>
          <a:xfrm>
            <a:off x="4096512" y="2221992"/>
            <a:ext cx="502920" cy="502920"/>
          </a:xfrm>
          <a:prstGeom prst="rect">
            <a:avLst/>
          </a:prstGeom>
          <a:solidFill>
            <a:srgbClr val="9EB3C2">
              <a:alpha val="61960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7"/>
          <p:cNvSpPr/>
          <p:nvPr/>
        </p:nvSpPr>
        <p:spPr>
          <a:xfrm>
            <a:off x="4096512" y="2221992"/>
            <a:ext cx="167640" cy="167640"/>
          </a:xfrm>
          <a:prstGeom prst="rect">
            <a:avLst/>
          </a:prstGeom>
          <a:solidFill>
            <a:srgbClr val="92929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4264152" y="2221992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7"/>
          <p:cNvSpPr/>
          <p:nvPr/>
        </p:nvSpPr>
        <p:spPr>
          <a:xfrm>
            <a:off x="4431792" y="2221992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7"/>
          <p:cNvSpPr/>
          <p:nvPr/>
        </p:nvSpPr>
        <p:spPr>
          <a:xfrm>
            <a:off x="4096512" y="2389632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7"/>
          <p:cNvSpPr/>
          <p:nvPr/>
        </p:nvSpPr>
        <p:spPr>
          <a:xfrm>
            <a:off x="4264152" y="2389632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4431792" y="2389632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7"/>
          <p:cNvSpPr/>
          <p:nvPr/>
        </p:nvSpPr>
        <p:spPr>
          <a:xfrm>
            <a:off x="4096512" y="2557272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4264152" y="2557272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4431792" y="2557272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7"/>
          <p:cNvSpPr/>
          <p:nvPr/>
        </p:nvSpPr>
        <p:spPr>
          <a:xfrm>
            <a:off x="4672584" y="2221992"/>
            <a:ext cx="502920" cy="502920"/>
          </a:xfrm>
          <a:prstGeom prst="rect">
            <a:avLst/>
          </a:prstGeom>
          <a:solidFill>
            <a:srgbClr val="8FB3CC">
              <a:alpha val="54901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7"/>
          <p:cNvSpPr/>
          <p:nvPr/>
        </p:nvSpPr>
        <p:spPr>
          <a:xfrm>
            <a:off x="4672584" y="2221992"/>
            <a:ext cx="167640" cy="167640"/>
          </a:xfrm>
          <a:prstGeom prst="rect">
            <a:avLst/>
          </a:prstGeom>
          <a:solidFill>
            <a:srgbClr val="C1C1C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7"/>
          <p:cNvSpPr/>
          <p:nvPr/>
        </p:nvSpPr>
        <p:spPr>
          <a:xfrm>
            <a:off x="4840224" y="2221992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7"/>
          <p:cNvSpPr/>
          <p:nvPr/>
        </p:nvSpPr>
        <p:spPr>
          <a:xfrm>
            <a:off x="5007864" y="2221992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7"/>
          <p:cNvSpPr/>
          <p:nvPr/>
        </p:nvSpPr>
        <p:spPr>
          <a:xfrm>
            <a:off x="4672584" y="2389632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7"/>
          <p:cNvSpPr/>
          <p:nvPr/>
        </p:nvSpPr>
        <p:spPr>
          <a:xfrm>
            <a:off x="4840224" y="2389632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7"/>
          <p:cNvSpPr/>
          <p:nvPr/>
        </p:nvSpPr>
        <p:spPr>
          <a:xfrm>
            <a:off x="5007864" y="2389632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7"/>
          <p:cNvSpPr/>
          <p:nvPr/>
        </p:nvSpPr>
        <p:spPr>
          <a:xfrm>
            <a:off x="4672584" y="2557272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7"/>
          <p:cNvSpPr/>
          <p:nvPr/>
        </p:nvSpPr>
        <p:spPr>
          <a:xfrm>
            <a:off x="4840224" y="2557272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7"/>
          <p:cNvSpPr/>
          <p:nvPr/>
        </p:nvSpPr>
        <p:spPr>
          <a:xfrm>
            <a:off x="5007864" y="2557272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7"/>
          <p:cNvSpPr/>
          <p:nvPr/>
        </p:nvSpPr>
        <p:spPr>
          <a:xfrm>
            <a:off x="640080" y="2798064"/>
            <a:ext cx="502920" cy="502920"/>
          </a:xfrm>
          <a:prstGeom prst="rect">
            <a:avLst/>
          </a:prstGeom>
          <a:solidFill>
            <a:srgbClr val="065A82">
              <a:alpha val="47843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7"/>
          <p:cNvSpPr/>
          <p:nvPr/>
        </p:nvSpPr>
        <p:spPr>
          <a:xfrm>
            <a:off x="640080" y="2798064"/>
            <a:ext cx="167640" cy="167640"/>
          </a:xfrm>
          <a:prstGeom prst="rect">
            <a:avLst/>
          </a:prstGeom>
          <a:solidFill>
            <a:srgbClr val="F0F0F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7"/>
          <p:cNvSpPr/>
          <p:nvPr/>
        </p:nvSpPr>
        <p:spPr>
          <a:xfrm>
            <a:off x="807720" y="2798064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7"/>
          <p:cNvSpPr/>
          <p:nvPr/>
        </p:nvSpPr>
        <p:spPr>
          <a:xfrm>
            <a:off x="975360" y="2798064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7"/>
          <p:cNvSpPr/>
          <p:nvPr/>
        </p:nvSpPr>
        <p:spPr>
          <a:xfrm>
            <a:off x="640080" y="2965704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7"/>
          <p:cNvSpPr/>
          <p:nvPr/>
        </p:nvSpPr>
        <p:spPr>
          <a:xfrm>
            <a:off x="807720" y="2965704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7"/>
          <p:cNvSpPr/>
          <p:nvPr/>
        </p:nvSpPr>
        <p:spPr>
          <a:xfrm>
            <a:off x="975360" y="2965704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7"/>
          <p:cNvSpPr/>
          <p:nvPr/>
        </p:nvSpPr>
        <p:spPr>
          <a:xfrm>
            <a:off x="640080" y="3133344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7"/>
          <p:cNvSpPr/>
          <p:nvPr/>
        </p:nvSpPr>
        <p:spPr>
          <a:xfrm>
            <a:off x="807720" y="3133344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7"/>
          <p:cNvSpPr/>
          <p:nvPr/>
        </p:nvSpPr>
        <p:spPr>
          <a:xfrm>
            <a:off x="975360" y="3133344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7"/>
          <p:cNvSpPr/>
          <p:nvPr/>
        </p:nvSpPr>
        <p:spPr>
          <a:xfrm>
            <a:off x="1216152" y="2798064"/>
            <a:ext cx="502920" cy="502920"/>
          </a:xfrm>
          <a:prstGeom prst="rect">
            <a:avLst/>
          </a:prstGeom>
          <a:solidFill>
            <a:srgbClr val="1C7293">
              <a:alpha val="41176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7"/>
          <p:cNvSpPr/>
          <p:nvPr/>
        </p:nvSpPr>
        <p:spPr>
          <a:xfrm>
            <a:off x="1216152" y="2798064"/>
            <a:ext cx="167640" cy="167640"/>
          </a:xfrm>
          <a:prstGeom prst="rect">
            <a:avLst/>
          </a:prstGeom>
          <a:solidFill>
            <a:srgbClr val="1F1F1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1383792" y="2798064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7"/>
          <p:cNvSpPr/>
          <p:nvPr/>
        </p:nvSpPr>
        <p:spPr>
          <a:xfrm>
            <a:off x="1551432" y="2798064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7"/>
          <p:cNvSpPr/>
          <p:nvPr/>
        </p:nvSpPr>
        <p:spPr>
          <a:xfrm>
            <a:off x="1216152" y="2965704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7"/>
          <p:cNvSpPr/>
          <p:nvPr/>
        </p:nvSpPr>
        <p:spPr>
          <a:xfrm>
            <a:off x="1383792" y="2965704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7"/>
          <p:cNvSpPr/>
          <p:nvPr/>
        </p:nvSpPr>
        <p:spPr>
          <a:xfrm>
            <a:off x="1551432" y="2965704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7"/>
          <p:cNvSpPr/>
          <p:nvPr/>
        </p:nvSpPr>
        <p:spPr>
          <a:xfrm>
            <a:off x="1216152" y="3133344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7"/>
          <p:cNvSpPr/>
          <p:nvPr/>
        </p:nvSpPr>
        <p:spPr>
          <a:xfrm>
            <a:off x="1383792" y="3133344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7"/>
          <p:cNvSpPr/>
          <p:nvPr/>
        </p:nvSpPr>
        <p:spPr>
          <a:xfrm>
            <a:off x="1551432" y="3133344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7"/>
          <p:cNvSpPr/>
          <p:nvPr/>
        </p:nvSpPr>
        <p:spPr>
          <a:xfrm>
            <a:off x="1792224" y="2798064"/>
            <a:ext cx="502920" cy="502920"/>
          </a:xfrm>
          <a:prstGeom prst="rect">
            <a:avLst/>
          </a:prstGeom>
          <a:solidFill>
            <a:srgbClr val="DB504A">
              <a:alpha val="94117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7"/>
          <p:cNvSpPr/>
          <p:nvPr/>
        </p:nvSpPr>
        <p:spPr>
          <a:xfrm>
            <a:off x="1792224" y="2798064"/>
            <a:ext cx="167640" cy="167640"/>
          </a:xfrm>
          <a:prstGeom prst="rect">
            <a:avLst/>
          </a:prstGeom>
          <a:solidFill>
            <a:srgbClr val="4E4E4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7"/>
          <p:cNvSpPr/>
          <p:nvPr/>
        </p:nvSpPr>
        <p:spPr>
          <a:xfrm>
            <a:off x="1959864" y="2798064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7"/>
          <p:cNvSpPr/>
          <p:nvPr/>
        </p:nvSpPr>
        <p:spPr>
          <a:xfrm>
            <a:off x="2127504" y="2798064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7"/>
          <p:cNvSpPr/>
          <p:nvPr/>
        </p:nvSpPr>
        <p:spPr>
          <a:xfrm>
            <a:off x="1792224" y="2965704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7"/>
          <p:cNvSpPr/>
          <p:nvPr/>
        </p:nvSpPr>
        <p:spPr>
          <a:xfrm>
            <a:off x="1959864" y="2965704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2127504" y="2965704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7"/>
          <p:cNvSpPr/>
          <p:nvPr/>
        </p:nvSpPr>
        <p:spPr>
          <a:xfrm>
            <a:off x="1792224" y="3133344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7"/>
          <p:cNvSpPr/>
          <p:nvPr/>
        </p:nvSpPr>
        <p:spPr>
          <a:xfrm>
            <a:off x="1959864" y="3133344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2127504" y="3133344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7"/>
          <p:cNvSpPr/>
          <p:nvPr/>
        </p:nvSpPr>
        <p:spPr>
          <a:xfrm>
            <a:off x="2368296" y="2798064"/>
            <a:ext cx="502920" cy="502920"/>
          </a:xfrm>
          <a:prstGeom prst="rect">
            <a:avLst/>
          </a:prstGeom>
          <a:solidFill>
            <a:srgbClr val="5FAD56">
              <a:alpha val="87058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2368296" y="2798064"/>
            <a:ext cx="167640" cy="167640"/>
          </a:xfrm>
          <a:prstGeom prst="rect">
            <a:avLst/>
          </a:prstGeom>
          <a:solidFill>
            <a:srgbClr val="7D7D7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7"/>
          <p:cNvSpPr/>
          <p:nvPr/>
        </p:nvSpPr>
        <p:spPr>
          <a:xfrm>
            <a:off x="2535936" y="2798064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7"/>
          <p:cNvSpPr/>
          <p:nvPr/>
        </p:nvSpPr>
        <p:spPr>
          <a:xfrm>
            <a:off x="2703576" y="2798064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17"/>
          <p:cNvSpPr/>
          <p:nvPr/>
        </p:nvSpPr>
        <p:spPr>
          <a:xfrm>
            <a:off x="2368296" y="2965704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2535936" y="2965704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7"/>
          <p:cNvSpPr/>
          <p:nvPr/>
        </p:nvSpPr>
        <p:spPr>
          <a:xfrm>
            <a:off x="2703576" y="2965704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>
            <a:off x="2368296" y="3133344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7"/>
          <p:cNvSpPr/>
          <p:nvPr/>
        </p:nvSpPr>
        <p:spPr>
          <a:xfrm>
            <a:off x="2535936" y="3133344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2703576" y="3133344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7"/>
          <p:cNvSpPr/>
          <p:nvPr/>
        </p:nvSpPr>
        <p:spPr>
          <a:xfrm>
            <a:off x="2944368" y="2798064"/>
            <a:ext cx="502920" cy="502920"/>
          </a:xfrm>
          <a:prstGeom prst="rect">
            <a:avLst/>
          </a:prstGeom>
          <a:solidFill>
            <a:srgbClr val="F2A65A">
              <a:alpha val="80000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7"/>
          <p:cNvSpPr/>
          <p:nvPr/>
        </p:nvSpPr>
        <p:spPr>
          <a:xfrm>
            <a:off x="2944368" y="2798064"/>
            <a:ext cx="167640" cy="167640"/>
          </a:xfrm>
          <a:prstGeom prst="rect">
            <a:avLst/>
          </a:prstGeom>
          <a:solidFill>
            <a:srgbClr val="ACACA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7"/>
          <p:cNvSpPr/>
          <p:nvPr/>
        </p:nvSpPr>
        <p:spPr>
          <a:xfrm>
            <a:off x="3112008" y="2798064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7"/>
          <p:cNvSpPr/>
          <p:nvPr/>
        </p:nvSpPr>
        <p:spPr>
          <a:xfrm>
            <a:off x="3279648" y="2798064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7"/>
          <p:cNvSpPr/>
          <p:nvPr/>
        </p:nvSpPr>
        <p:spPr>
          <a:xfrm>
            <a:off x="2944368" y="2965704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>
            <a:off x="3112008" y="2965704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7"/>
          <p:cNvSpPr/>
          <p:nvPr/>
        </p:nvSpPr>
        <p:spPr>
          <a:xfrm>
            <a:off x="3279648" y="2965704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7"/>
          <p:cNvSpPr/>
          <p:nvPr/>
        </p:nvSpPr>
        <p:spPr>
          <a:xfrm>
            <a:off x="2944368" y="3133344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7"/>
          <p:cNvSpPr/>
          <p:nvPr/>
        </p:nvSpPr>
        <p:spPr>
          <a:xfrm>
            <a:off x="3112008" y="3133344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>
            <a:off x="3279648" y="3133344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7"/>
          <p:cNvSpPr/>
          <p:nvPr/>
        </p:nvSpPr>
        <p:spPr>
          <a:xfrm>
            <a:off x="3520440" y="2798064"/>
            <a:ext cx="502920" cy="502920"/>
          </a:xfrm>
          <a:prstGeom prst="rect">
            <a:avLst/>
          </a:prstGeom>
          <a:solidFill>
            <a:srgbClr val="21295C">
              <a:alpha val="72941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3520440" y="2798064"/>
            <a:ext cx="167640" cy="167640"/>
          </a:xfrm>
          <a:prstGeom prst="rect">
            <a:avLst/>
          </a:prstGeom>
          <a:solidFill>
            <a:srgbClr val="DBDBD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7"/>
          <p:cNvSpPr/>
          <p:nvPr/>
        </p:nvSpPr>
        <p:spPr>
          <a:xfrm>
            <a:off x="3688080" y="2798064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7"/>
          <p:cNvSpPr/>
          <p:nvPr/>
        </p:nvSpPr>
        <p:spPr>
          <a:xfrm>
            <a:off x="3855720" y="2798064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7"/>
          <p:cNvSpPr/>
          <p:nvPr/>
        </p:nvSpPr>
        <p:spPr>
          <a:xfrm>
            <a:off x="3520440" y="2965704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7"/>
          <p:cNvSpPr/>
          <p:nvPr/>
        </p:nvSpPr>
        <p:spPr>
          <a:xfrm>
            <a:off x="3688080" y="2965704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7"/>
          <p:cNvSpPr/>
          <p:nvPr/>
        </p:nvSpPr>
        <p:spPr>
          <a:xfrm>
            <a:off x="3855720" y="2965704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3520440" y="3133344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7"/>
          <p:cNvSpPr/>
          <p:nvPr/>
        </p:nvSpPr>
        <p:spPr>
          <a:xfrm>
            <a:off x="3688080" y="3133344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7"/>
          <p:cNvSpPr/>
          <p:nvPr/>
        </p:nvSpPr>
        <p:spPr>
          <a:xfrm>
            <a:off x="3855720" y="3133344"/>
            <a:ext cx="167640" cy="167640"/>
          </a:xfrm>
          <a:prstGeom prst="rect">
            <a:avLst/>
          </a:prstGeom>
          <a:solidFill>
            <a:srgbClr val="CBCBC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7"/>
          <p:cNvSpPr/>
          <p:nvPr/>
        </p:nvSpPr>
        <p:spPr>
          <a:xfrm>
            <a:off x="4096512" y="2798064"/>
            <a:ext cx="502920" cy="502920"/>
          </a:xfrm>
          <a:prstGeom prst="rect">
            <a:avLst/>
          </a:prstGeom>
          <a:solidFill>
            <a:srgbClr val="9EB3C2">
              <a:alpha val="65882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"/>
          <p:cNvSpPr/>
          <p:nvPr/>
        </p:nvSpPr>
        <p:spPr>
          <a:xfrm>
            <a:off x="4096512" y="2798064"/>
            <a:ext cx="167640" cy="167640"/>
          </a:xfrm>
          <a:prstGeom prst="rect">
            <a:avLst/>
          </a:prstGeom>
          <a:solidFill>
            <a:srgbClr val="0A0A0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7"/>
          <p:cNvSpPr/>
          <p:nvPr/>
        </p:nvSpPr>
        <p:spPr>
          <a:xfrm>
            <a:off x="4264152" y="2798064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7"/>
          <p:cNvSpPr/>
          <p:nvPr/>
        </p:nvSpPr>
        <p:spPr>
          <a:xfrm>
            <a:off x="4431792" y="2798064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7"/>
          <p:cNvSpPr/>
          <p:nvPr/>
        </p:nvSpPr>
        <p:spPr>
          <a:xfrm>
            <a:off x="4096512" y="2965704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7"/>
          <p:cNvSpPr/>
          <p:nvPr/>
        </p:nvSpPr>
        <p:spPr>
          <a:xfrm>
            <a:off x="4264152" y="2965704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7"/>
          <p:cNvSpPr/>
          <p:nvPr/>
        </p:nvSpPr>
        <p:spPr>
          <a:xfrm>
            <a:off x="4431792" y="2965704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7"/>
          <p:cNvSpPr/>
          <p:nvPr/>
        </p:nvSpPr>
        <p:spPr>
          <a:xfrm>
            <a:off x="4096512" y="3133344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7"/>
          <p:cNvSpPr/>
          <p:nvPr/>
        </p:nvSpPr>
        <p:spPr>
          <a:xfrm>
            <a:off x="4264152" y="3133344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4431792" y="3133344"/>
            <a:ext cx="167640" cy="167640"/>
          </a:xfrm>
          <a:prstGeom prst="rect">
            <a:avLst/>
          </a:prstGeom>
          <a:solidFill>
            <a:srgbClr val="FAFAF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7"/>
          <p:cNvSpPr/>
          <p:nvPr/>
        </p:nvSpPr>
        <p:spPr>
          <a:xfrm>
            <a:off x="4672584" y="2798064"/>
            <a:ext cx="502920" cy="502920"/>
          </a:xfrm>
          <a:prstGeom prst="rect">
            <a:avLst/>
          </a:prstGeom>
          <a:solidFill>
            <a:srgbClr val="8FB3CC">
              <a:alpha val="58823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7"/>
          <p:cNvSpPr/>
          <p:nvPr/>
        </p:nvSpPr>
        <p:spPr>
          <a:xfrm>
            <a:off x="4672584" y="2798064"/>
            <a:ext cx="167640" cy="167640"/>
          </a:xfrm>
          <a:prstGeom prst="rect">
            <a:avLst/>
          </a:prstGeom>
          <a:solidFill>
            <a:srgbClr val="39393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4840224" y="2798064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7"/>
          <p:cNvSpPr/>
          <p:nvPr/>
        </p:nvSpPr>
        <p:spPr>
          <a:xfrm>
            <a:off x="5007864" y="2798064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7"/>
          <p:cNvSpPr/>
          <p:nvPr/>
        </p:nvSpPr>
        <p:spPr>
          <a:xfrm>
            <a:off x="4672584" y="2965704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7"/>
          <p:cNvSpPr/>
          <p:nvPr/>
        </p:nvSpPr>
        <p:spPr>
          <a:xfrm>
            <a:off x="4840224" y="2965704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7"/>
          <p:cNvSpPr/>
          <p:nvPr/>
        </p:nvSpPr>
        <p:spPr>
          <a:xfrm>
            <a:off x="5007864" y="2965704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7"/>
          <p:cNvSpPr/>
          <p:nvPr/>
        </p:nvSpPr>
        <p:spPr>
          <a:xfrm>
            <a:off x="4672584" y="3133344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7"/>
          <p:cNvSpPr/>
          <p:nvPr/>
        </p:nvSpPr>
        <p:spPr>
          <a:xfrm>
            <a:off x="4840224" y="3133344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7"/>
          <p:cNvSpPr/>
          <p:nvPr/>
        </p:nvSpPr>
        <p:spPr>
          <a:xfrm>
            <a:off x="5007864" y="3133344"/>
            <a:ext cx="167640" cy="167640"/>
          </a:xfrm>
          <a:prstGeom prst="rect">
            <a:avLst/>
          </a:prstGeom>
          <a:solidFill>
            <a:srgbClr val="29292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7"/>
          <p:cNvSpPr/>
          <p:nvPr/>
        </p:nvSpPr>
        <p:spPr>
          <a:xfrm>
            <a:off x="640080" y="3374136"/>
            <a:ext cx="502920" cy="502920"/>
          </a:xfrm>
          <a:prstGeom prst="rect">
            <a:avLst/>
          </a:prstGeom>
          <a:solidFill>
            <a:srgbClr val="065A82">
              <a:alpha val="52156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7"/>
          <p:cNvSpPr/>
          <p:nvPr/>
        </p:nvSpPr>
        <p:spPr>
          <a:xfrm>
            <a:off x="640080" y="3374136"/>
            <a:ext cx="167640" cy="167640"/>
          </a:xfrm>
          <a:prstGeom prst="rect">
            <a:avLst/>
          </a:prstGeom>
          <a:solidFill>
            <a:srgbClr val="68686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7"/>
          <p:cNvSpPr/>
          <p:nvPr/>
        </p:nvSpPr>
        <p:spPr>
          <a:xfrm>
            <a:off x="807720" y="3374136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7"/>
          <p:cNvSpPr/>
          <p:nvPr/>
        </p:nvSpPr>
        <p:spPr>
          <a:xfrm>
            <a:off x="975360" y="3374136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7"/>
          <p:cNvSpPr/>
          <p:nvPr/>
        </p:nvSpPr>
        <p:spPr>
          <a:xfrm>
            <a:off x="640080" y="3541776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"/>
          <p:cNvSpPr/>
          <p:nvPr/>
        </p:nvSpPr>
        <p:spPr>
          <a:xfrm>
            <a:off x="807720" y="3541776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7"/>
          <p:cNvSpPr/>
          <p:nvPr/>
        </p:nvSpPr>
        <p:spPr>
          <a:xfrm>
            <a:off x="975360" y="3541776"/>
            <a:ext cx="167640" cy="167640"/>
          </a:xfrm>
          <a:prstGeom prst="rect">
            <a:avLst/>
          </a:prstGeom>
          <a:solidFill>
            <a:srgbClr val="CBCBC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7"/>
          <p:cNvSpPr/>
          <p:nvPr/>
        </p:nvSpPr>
        <p:spPr>
          <a:xfrm>
            <a:off x="640080" y="3709416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7"/>
          <p:cNvSpPr/>
          <p:nvPr/>
        </p:nvSpPr>
        <p:spPr>
          <a:xfrm>
            <a:off x="807720" y="3709416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7"/>
          <p:cNvSpPr/>
          <p:nvPr/>
        </p:nvSpPr>
        <p:spPr>
          <a:xfrm>
            <a:off x="975360" y="3709416"/>
            <a:ext cx="167640" cy="167640"/>
          </a:xfrm>
          <a:prstGeom prst="rect">
            <a:avLst/>
          </a:prstGeom>
          <a:solidFill>
            <a:srgbClr val="58585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7"/>
          <p:cNvSpPr/>
          <p:nvPr/>
        </p:nvSpPr>
        <p:spPr>
          <a:xfrm>
            <a:off x="1216152" y="3374136"/>
            <a:ext cx="502920" cy="502920"/>
          </a:xfrm>
          <a:prstGeom prst="rect">
            <a:avLst/>
          </a:prstGeom>
          <a:solidFill>
            <a:srgbClr val="1C7293">
              <a:alpha val="45098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7"/>
          <p:cNvSpPr/>
          <p:nvPr/>
        </p:nvSpPr>
        <p:spPr>
          <a:xfrm>
            <a:off x="1216152" y="3374136"/>
            <a:ext cx="167640" cy="167640"/>
          </a:xfrm>
          <a:prstGeom prst="rect">
            <a:avLst/>
          </a:prstGeom>
          <a:solidFill>
            <a:srgbClr val="97979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7"/>
          <p:cNvSpPr/>
          <p:nvPr/>
        </p:nvSpPr>
        <p:spPr>
          <a:xfrm>
            <a:off x="1383792" y="3374136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7"/>
          <p:cNvSpPr/>
          <p:nvPr/>
        </p:nvSpPr>
        <p:spPr>
          <a:xfrm>
            <a:off x="1551432" y="3374136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7"/>
          <p:cNvSpPr/>
          <p:nvPr/>
        </p:nvSpPr>
        <p:spPr>
          <a:xfrm>
            <a:off x="1216152" y="3541776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7"/>
          <p:cNvSpPr/>
          <p:nvPr/>
        </p:nvSpPr>
        <p:spPr>
          <a:xfrm>
            <a:off x="1383792" y="3541776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7"/>
          <p:cNvSpPr/>
          <p:nvPr/>
        </p:nvSpPr>
        <p:spPr>
          <a:xfrm>
            <a:off x="1551432" y="3541776"/>
            <a:ext cx="167640" cy="167640"/>
          </a:xfrm>
          <a:prstGeom prst="rect">
            <a:avLst/>
          </a:prstGeom>
          <a:solidFill>
            <a:srgbClr val="FAFAF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7"/>
          <p:cNvSpPr/>
          <p:nvPr/>
        </p:nvSpPr>
        <p:spPr>
          <a:xfrm>
            <a:off x="1216152" y="3709416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7"/>
          <p:cNvSpPr/>
          <p:nvPr/>
        </p:nvSpPr>
        <p:spPr>
          <a:xfrm>
            <a:off x="1383792" y="3709416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7"/>
          <p:cNvSpPr/>
          <p:nvPr/>
        </p:nvSpPr>
        <p:spPr>
          <a:xfrm>
            <a:off x="1551432" y="3709416"/>
            <a:ext cx="167640" cy="167640"/>
          </a:xfrm>
          <a:prstGeom prst="rect">
            <a:avLst/>
          </a:prstGeom>
          <a:solidFill>
            <a:srgbClr val="87878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7"/>
          <p:cNvSpPr/>
          <p:nvPr/>
        </p:nvSpPr>
        <p:spPr>
          <a:xfrm>
            <a:off x="1792224" y="3374136"/>
            <a:ext cx="502920" cy="502920"/>
          </a:xfrm>
          <a:prstGeom prst="rect">
            <a:avLst/>
          </a:prstGeom>
          <a:solidFill>
            <a:srgbClr val="DB504A">
              <a:alpha val="98039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7"/>
          <p:cNvSpPr/>
          <p:nvPr/>
        </p:nvSpPr>
        <p:spPr>
          <a:xfrm>
            <a:off x="1792224" y="3374136"/>
            <a:ext cx="167640" cy="167640"/>
          </a:xfrm>
          <a:prstGeom prst="rect">
            <a:avLst/>
          </a:prstGeom>
          <a:solidFill>
            <a:srgbClr val="C6C6C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7"/>
          <p:cNvSpPr/>
          <p:nvPr/>
        </p:nvSpPr>
        <p:spPr>
          <a:xfrm>
            <a:off x="1959864" y="3374136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7"/>
          <p:cNvSpPr/>
          <p:nvPr/>
        </p:nvSpPr>
        <p:spPr>
          <a:xfrm>
            <a:off x="2127504" y="3374136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7"/>
          <p:cNvSpPr/>
          <p:nvPr/>
        </p:nvSpPr>
        <p:spPr>
          <a:xfrm>
            <a:off x="1792224" y="3541776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7"/>
          <p:cNvSpPr/>
          <p:nvPr/>
        </p:nvSpPr>
        <p:spPr>
          <a:xfrm>
            <a:off x="1959864" y="3541776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7"/>
          <p:cNvSpPr/>
          <p:nvPr/>
        </p:nvSpPr>
        <p:spPr>
          <a:xfrm>
            <a:off x="2127504" y="3541776"/>
            <a:ext cx="167640" cy="167640"/>
          </a:xfrm>
          <a:prstGeom prst="rect">
            <a:avLst/>
          </a:prstGeom>
          <a:solidFill>
            <a:srgbClr val="29292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7"/>
          <p:cNvSpPr/>
          <p:nvPr/>
        </p:nvSpPr>
        <p:spPr>
          <a:xfrm>
            <a:off x="1792224" y="3709416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7"/>
          <p:cNvSpPr/>
          <p:nvPr/>
        </p:nvSpPr>
        <p:spPr>
          <a:xfrm>
            <a:off x="1959864" y="3709416"/>
            <a:ext cx="167640" cy="167640"/>
          </a:xfrm>
          <a:prstGeom prst="rect">
            <a:avLst/>
          </a:prstGeom>
          <a:solidFill>
            <a:srgbClr val="CBCBC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7"/>
          <p:cNvSpPr/>
          <p:nvPr/>
        </p:nvSpPr>
        <p:spPr>
          <a:xfrm>
            <a:off x="2127504" y="3709416"/>
            <a:ext cx="167640" cy="167640"/>
          </a:xfrm>
          <a:prstGeom prst="rect">
            <a:avLst/>
          </a:prstGeom>
          <a:solidFill>
            <a:srgbClr val="B6B6B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7"/>
          <p:cNvSpPr/>
          <p:nvPr/>
        </p:nvSpPr>
        <p:spPr>
          <a:xfrm>
            <a:off x="2368296" y="3374136"/>
            <a:ext cx="502920" cy="502920"/>
          </a:xfrm>
          <a:prstGeom prst="rect">
            <a:avLst/>
          </a:prstGeom>
          <a:solidFill>
            <a:srgbClr val="5FAD56">
              <a:alpha val="90980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7"/>
          <p:cNvSpPr/>
          <p:nvPr/>
        </p:nvSpPr>
        <p:spPr>
          <a:xfrm>
            <a:off x="2368296" y="3374136"/>
            <a:ext cx="167640" cy="167640"/>
          </a:xfrm>
          <a:prstGeom prst="rect">
            <a:avLst/>
          </a:prstGeom>
          <a:solidFill>
            <a:srgbClr val="F5F5F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7"/>
          <p:cNvSpPr/>
          <p:nvPr/>
        </p:nvSpPr>
        <p:spPr>
          <a:xfrm>
            <a:off x="2535936" y="3374136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7"/>
          <p:cNvSpPr/>
          <p:nvPr/>
        </p:nvSpPr>
        <p:spPr>
          <a:xfrm>
            <a:off x="2703576" y="3374136"/>
            <a:ext cx="167640" cy="167640"/>
          </a:xfrm>
          <a:prstGeom prst="rect">
            <a:avLst/>
          </a:prstGeom>
          <a:solidFill>
            <a:srgbClr val="CBCBC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7"/>
          <p:cNvSpPr/>
          <p:nvPr/>
        </p:nvSpPr>
        <p:spPr>
          <a:xfrm>
            <a:off x="2368296" y="3541776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7"/>
          <p:cNvSpPr/>
          <p:nvPr/>
        </p:nvSpPr>
        <p:spPr>
          <a:xfrm>
            <a:off x="2535936" y="3541776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7"/>
          <p:cNvSpPr/>
          <p:nvPr/>
        </p:nvSpPr>
        <p:spPr>
          <a:xfrm>
            <a:off x="2703576" y="3541776"/>
            <a:ext cx="167640" cy="167640"/>
          </a:xfrm>
          <a:prstGeom prst="rect">
            <a:avLst/>
          </a:prstGeom>
          <a:solidFill>
            <a:srgbClr val="58585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7"/>
          <p:cNvSpPr/>
          <p:nvPr/>
        </p:nvSpPr>
        <p:spPr>
          <a:xfrm>
            <a:off x="2368296" y="3709416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2535936" y="3709416"/>
            <a:ext cx="167640" cy="167640"/>
          </a:xfrm>
          <a:prstGeom prst="rect">
            <a:avLst/>
          </a:prstGeom>
          <a:solidFill>
            <a:srgbClr val="FAFAF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2703576" y="3709416"/>
            <a:ext cx="167640" cy="167640"/>
          </a:xfrm>
          <a:prstGeom prst="rect">
            <a:avLst/>
          </a:prstGeom>
          <a:solidFill>
            <a:srgbClr val="E5E5E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2944368" y="3374136"/>
            <a:ext cx="502920" cy="502920"/>
          </a:xfrm>
          <a:prstGeom prst="rect">
            <a:avLst/>
          </a:prstGeom>
          <a:solidFill>
            <a:srgbClr val="F2A65A">
              <a:alpha val="83921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2944368" y="3374136"/>
            <a:ext cx="167640" cy="167640"/>
          </a:xfrm>
          <a:prstGeom prst="rect">
            <a:avLst/>
          </a:prstGeom>
          <a:solidFill>
            <a:srgbClr val="24242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3112008" y="3374136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7"/>
          <p:cNvSpPr/>
          <p:nvPr/>
        </p:nvSpPr>
        <p:spPr>
          <a:xfrm>
            <a:off x="3279648" y="3374136"/>
            <a:ext cx="167640" cy="167640"/>
          </a:xfrm>
          <a:prstGeom prst="rect">
            <a:avLst/>
          </a:prstGeom>
          <a:solidFill>
            <a:srgbClr val="FAFAF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17"/>
          <p:cNvSpPr/>
          <p:nvPr/>
        </p:nvSpPr>
        <p:spPr>
          <a:xfrm>
            <a:off x="2944368" y="3541776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7"/>
          <p:cNvSpPr/>
          <p:nvPr/>
        </p:nvSpPr>
        <p:spPr>
          <a:xfrm>
            <a:off x="3112008" y="3541776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"/>
          <p:cNvSpPr/>
          <p:nvPr/>
        </p:nvSpPr>
        <p:spPr>
          <a:xfrm>
            <a:off x="3279648" y="3541776"/>
            <a:ext cx="167640" cy="167640"/>
          </a:xfrm>
          <a:prstGeom prst="rect">
            <a:avLst/>
          </a:prstGeom>
          <a:solidFill>
            <a:srgbClr val="87878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7"/>
          <p:cNvSpPr/>
          <p:nvPr/>
        </p:nvSpPr>
        <p:spPr>
          <a:xfrm>
            <a:off x="2944368" y="3709416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7"/>
          <p:cNvSpPr/>
          <p:nvPr/>
        </p:nvSpPr>
        <p:spPr>
          <a:xfrm>
            <a:off x="3112008" y="3709416"/>
            <a:ext cx="167640" cy="167640"/>
          </a:xfrm>
          <a:prstGeom prst="rect">
            <a:avLst/>
          </a:prstGeom>
          <a:solidFill>
            <a:srgbClr val="29292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7"/>
          <p:cNvSpPr/>
          <p:nvPr/>
        </p:nvSpPr>
        <p:spPr>
          <a:xfrm>
            <a:off x="3279648" y="3709416"/>
            <a:ext cx="167640" cy="167640"/>
          </a:xfrm>
          <a:prstGeom prst="rect">
            <a:avLst/>
          </a:prstGeom>
          <a:solidFill>
            <a:srgbClr val="14141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7"/>
          <p:cNvSpPr/>
          <p:nvPr/>
        </p:nvSpPr>
        <p:spPr>
          <a:xfrm>
            <a:off x="3520440" y="3374136"/>
            <a:ext cx="502920" cy="502920"/>
          </a:xfrm>
          <a:prstGeom prst="rect">
            <a:avLst/>
          </a:prstGeom>
          <a:solidFill>
            <a:srgbClr val="21295C">
              <a:alpha val="76862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7"/>
          <p:cNvSpPr/>
          <p:nvPr/>
        </p:nvSpPr>
        <p:spPr>
          <a:xfrm>
            <a:off x="3520440" y="3374136"/>
            <a:ext cx="167640" cy="167640"/>
          </a:xfrm>
          <a:prstGeom prst="rect">
            <a:avLst/>
          </a:prstGeom>
          <a:solidFill>
            <a:srgbClr val="53535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7"/>
          <p:cNvSpPr/>
          <p:nvPr/>
        </p:nvSpPr>
        <p:spPr>
          <a:xfrm>
            <a:off x="3688080" y="3374136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7"/>
          <p:cNvSpPr/>
          <p:nvPr/>
        </p:nvSpPr>
        <p:spPr>
          <a:xfrm>
            <a:off x="3855720" y="3374136"/>
            <a:ext cx="167640" cy="167640"/>
          </a:xfrm>
          <a:prstGeom prst="rect">
            <a:avLst/>
          </a:prstGeom>
          <a:solidFill>
            <a:srgbClr val="29292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7"/>
          <p:cNvSpPr/>
          <p:nvPr/>
        </p:nvSpPr>
        <p:spPr>
          <a:xfrm>
            <a:off x="3520440" y="3541776"/>
            <a:ext cx="167640" cy="167640"/>
          </a:xfrm>
          <a:prstGeom prst="rect">
            <a:avLst/>
          </a:prstGeom>
          <a:solidFill>
            <a:srgbClr val="E0E0E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7"/>
          <p:cNvSpPr/>
          <p:nvPr/>
        </p:nvSpPr>
        <p:spPr>
          <a:xfrm>
            <a:off x="3688080" y="3541776"/>
            <a:ext cx="167640" cy="167640"/>
          </a:xfrm>
          <a:prstGeom prst="rect">
            <a:avLst/>
          </a:prstGeom>
          <a:solidFill>
            <a:srgbClr val="CBCBC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7"/>
          <p:cNvSpPr/>
          <p:nvPr/>
        </p:nvSpPr>
        <p:spPr>
          <a:xfrm>
            <a:off x="3855720" y="3541776"/>
            <a:ext cx="167640" cy="167640"/>
          </a:xfrm>
          <a:prstGeom prst="rect">
            <a:avLst/>
          </a:prstGeom>
          <a:solidFill>
            <a:srgbClr val="B6B6B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7"/>
          <p:cNvSpPr/>
          <p:nvPr/>
        </p:nvSpPr>
        <p:spPr>
          <a:xfrm>
            <a:off x="3520440" y="3709416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7"/>
          <p:cNvSpPr/>
          <p:nvPr/>
        </p:nvSpPr>
        <p:spPr>
          <a:xfrm>
            <a:off x="3688080" y="3709416"/>
            <a:ext cx="167640" cy="167640"/>
          </a:xfrm>
          <a:prstGeom prst="rect">
            <a:avLst/>
          </a:prstGeom>
          <a:solidFill>
            <a:srgbClr val="58585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7"/>
          <p:cNvSpPr/>
          <p:nvPr/>
        </p:nvSpPr>
        <p:spPr>
          <a:xfrm>
            <a:off x="3855720" y="3709416"/>
            <a:ext cx="167640" cy="167640"/>
          </a:xfrm>
          <a:prstGeom prst="rect">
            <a:avLst/>
          </a:prstGeom>
          <a:solidFill>
            <a:srgbClr val="43434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7"/>
          <p:cNvSpPr/>
          <p:nvPr/>
        </p:nvSpPr>
        <p:spPr>
          <a:xfrm>
            <a:off x="4096512" y="3374136"/>
            <a:ext cx="502920" cy="502920"/>
          </a:xfrm>
          <a:prstGeom prst="rect">
            <a:avLst/>
          </a:prstGeom>
          <a:solidFill>
            <a:srgbClr val="9EB3C2">
              <a:alpha val="70196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7"/>
          <p:cNvSpPr/>
          <p:nvPr/>
        </p:nvSpPr>
        <p:spPr>
          <a:xfrm>
            <a:off x="4096512" y="3374136"/>
            <a:ext cx="167640" cy="167640"/>
          </a:xfrm>
          <a:prstGeom prst="rect">
            <a:avLst/>
          </a:prstGeom>
          <a:solidFill>
            <a:srgbClr val="82828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7"/>
          <p:cNvSpPr/>
          <p:nvPr/>
        </p:nvSpPr>
        <p:spPr>
          <a:xfrm>
            <a:off x="4264152" y="3374136"/>
            <a:ext cx="167640" cy="167640"/>
          </a:xfrm>
          <a:prstGeom prst="rect">
            <a:avLst/>
          </a:prstGeom>
          <a:solidFill>
            <a:srgbClr val="6D6D6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7"/>
          <p:cNvSpPr/>
          <p:nvPr/>
        </p:nvSpPr>
        <p:spPr>
          <a:xfrm>
            <a:off x="4431792" y="3374136"/>
            <a:ext cx="167640" cy="167640"/>
          </a:xfrm>
          <a:prstGeom prst="rect">
            <a:avLst/>
          </a:prstGeom>
          <a:solidFill>
            <a:srgbClr val="585858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7"/>
          <p:cNvSpPr/>
          <p:nvPr/>
        </p:nvSpPr>
        <p:spPr>
          <a:xfrm>
            <a:off x="4096512" y="3541776"/>
            <a:ext cx="167640" cy="167640"/>
          </a:xfrm>
          <a:prstGeom prst="rect">
            <a:avLst/>
          </a:prstGeom>
          <a:solidFill>
            <a:srgbClr val="0F0F0F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7"/>
          <p:cNvSpPr/>
          <p:nvPr/>
        </p:nvSpPr>
        <p:spPr>
          <a:xfrm>
            <a:off x="4264152" y="3541776"/>
            <a:ext cx="167640" cy="167640"/>
          </a:xfrm>
          <a:prstGeom prst="rect">
            <a:avLst/>
          </a:prstGeom>
          <a:solidFill>
            <a:srgbClr val="FAFAF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7"/>
          <p:cNvSpPr/>
          <p:nvPr/>
        </p:nvSpPr>
        <p:spPr>
          <a:xfrm>
            <a:off x="4431792" y="3541776"/>
            <a:ext cx="167640" cy="167640"/>
          </a:xfrm>
          <a:prstGeom prst="rect">
            <a:avLst/>
          </a:prstGeom>
          <a:solidFill>
            <a:srgbClr val="E5E5E5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7"/>
          <p:cNvSpPr/>
          <p:nvPr/>
        </p:nvSpPr>
        <p:spPr>
          <a:xfrm>
            <a:off x="4096512" y="3709416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7"/>
          <p:cNvSpPr/>
          <p:nvPr/>
        </p:nvSpPr>
        <p:spPr>
          <a:xfrm>
            <a:off x="4264152" y="3709416"/>
            <a:ext cx="167640" cy="167640"/>
          </a:xfrm>
          <a:prstGeom prst="rect">
            <a:avLst/>
          </a:prstGeom>
          <a:solidFill>
            <a:srgbClr val="87878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7"/>
          <p:cNvSpPr/>
          <p:nvPr/>
        </p:nvSpPr>
        <p:spPr>
          <a:xfrm>
            <a:off x="4431792" y="3709416"/>
            <a:ext cx="167640" cy="167640"/>
          </a:xfrm>
          <a:prstGeom prst="rect">
            <a:avLst/>
          </a:prstGeom>
          <a:solidFill>
            <a:srgbClr val="727272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7"/>
          <p:cNvSpPr/>
          <p:nvPr/>
        </p:nvSpPr>
        <p:spPr>
          <a:xfrm>
            <a:off x="4672584" y="3374136"/>
            <a:ext cx="502920" cy="502920"/>
          </a:xfrm>
          <a:prstGeom prst="rect">
            <a:avLst/>
          </a:prstGeom>
          <a:solidFill>
            <a:srgbClr val="8FB3CC">
              <a:alpha val="63137"/>
            </a:srgbClr>
          </a:solidFill>
          <a:ln cap="flat" cmpd="sng" w="9525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7"/>
          <p:cNvSpPr/>
          <p:nvPr/>
        </p:nvSpPr>
        <p:spPr>
          <a:xfrm>
            <a:off x="4672584" y="3374136"/>
            <a:ext cx="167640" cy="167640"/>
          </a:xfrm>
          <a:prstGeom prst="rect">
            <a:avLst/>
          </a:prstGeom>
          <a:solidFill>
            <a:srgbClr val="B1B1B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7"/>
          <p:cNvSpPr/>
          <p:nvPr/>
        </p:nvSpPr>
        <p:spPr>
          <a:xfrm>
            <a:off x="4840224" y="3374136"/>
            <a:ext cx="167640" cy="167640"/>
          </a:xfrm>
          <a:prstGeom prst="rect">
            <a:avLst/>
          </a:prstGeom>
          <a:solidFill>
            <a:srgbClr val="9C9C9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7"/>
          <p:cNvSpPr/>
          <p:nvPr/>
        </p:nvSpPr>
        <p:spPr>
          <a:xfrm>
            <a:off x="5007864" y="3374136"/>
            <a:ext cx="167640" cy="167640"/>
          </a:xfrm>
          <a:prstGeom prst="rect">
            <a:avLst/>
          </a:prstGeom>
          <a:solidFill>
            <a:srgbClr val="87878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7"/>
          <p:cNvSpPr/>
          <p:nvPr/>
        </p:nvSpPr>
        <p:spPr>
          <a:xfrm>
            <a:off x="4672584" y="3541776"/>
            <a:ext cx="167640" cy="167640"/>
          </a:xfrm>
          <a:prstGeom prst="rect">
            <a:avLst/>
          </a:prstGeom>
          <a:solidFill>
            <a:srgbClr val="3E3E3E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7"/>
          <p:cNvSpPr/>
          <p:nvPr/>
        </p:nvSpPr>
        <p:spPr>
          <a:xfrm>
            <a:off x="4840224" y="3541776"/>
            <a:ext cx="167640" cy="167640"/>
          </a:xfrm>
          <a:prstGeom prst="rect">
            <a:avLst/>
          </a:prstGeom>
          <a:solidFill>
            <a:srgbClr val="292929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7"/>
          <p:cNvSpPr/>
          <p:nvPr/>
        </p:nvSpPr>
        <p:spPr>
          <a:xfrm>
            <a:off x="5007864" y="3541776"/>
            <a:ext cx="167640" cy="167640"/>
          </a:xfrm>
          <a:prstGeom prst="rect">
            <a:avLst/>
          </a:prstGeom>
          <a:solidFill>
            <a:srgbClr val="14141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7"/>
          <p:cNvSpPr/>
          <p:nvPr/>
        </p:nvSpPr>
        <p:spPr>
          <a:xfrm>
            <a:off x="4672584" y="3709416"/>
            <a:ext cx="167640" cy="167640"/>
          </a:xfrm>
          <a:prstGeom prst="rect">
            <a:avLst/>
          </a:prstGeom>
          <a:solidFill>
            <a:srgbClr val="CBCBC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7"/>
          <p:cNvSpPr/>
          <p:nvPr/>
        </p:nvSpPr>
        <p:spPr>
          <a:xfrm>
            <a:off x="4840224" y="3709416"/>
            <a:ext cx="167640" cy="167640"/>
          </a:xfrm>
          <a:prstGeom prst="rect">
            <a:avLst/>
          </a:prstGeom>
          <a:solidFill>
            <a:srgbClr val="B6B6B6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7"/>
          <p:cNvSpPr/>
          <p:nvPr/>
        </p:nvSpPr>
        <p:spPr>
          <a:xfrm>
            <a:off x="5007864" y="3709416"/>
            <a:ext cx="167640" cy="167640"/>
          </a:xfrm>
          <a:prstGeom prst="rect">
            <a:avLst/>
          </a:prstGeom>
          <a:solidFill>
            <a:srgbClr val="A1A1A1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7"/>
          <p:cNvSpPr/>
          <p:nvPr/>
        </p:nvSpPr>
        <p:spPr>
          <a:xfrm>
            <a:off x="5943600" y="1554480"/>
            <a:ext cx="5943600" cy="4754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EB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7"/>
          <p:cNvSpPr/>
          <p:nvPr/>
        </p:nvSpPr>
        <p:spPr>
          <a:xfrm>
            <a:off x="6126480" y="16916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CNN이 자동 발견한 패턴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7"/>
          <p:cNvSpPr/>
          <p:nvPr/>
        </p:nvSpPr>
        <p:spPr>
          <a:xfrm>
            <a:off x="6217920" y="22402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7"/>
          <p:cNvSpPr/>
          <p:nvPr/>
        </p:nvSpPr>
        <p:spPr>
          <a:xfrm>
            <a:off x="6858000" y="2240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에지 검출 필터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7"/>
          <p:cNvSpPr/>
          <p:nvPr/>
        </p:nvSpPr>
        <p:spPr>
          <a:xfrm>
            <a:off x="6858000" y="25603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수직·수평·대각선 경계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7"/>
          <p:cNvSpPr/>
          <p:nvPr/>
        </p:nvSpPr>
        <p:spPr>
          <a:xfrm>
            <a:off x="6217920" y="301752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7"/>
          <p:cNvSpPr/>
          <p:nvPr/>
        </p:nvSpPr>
        <p:spPr>
          <a:xfrm>
            <a:off x="6858000" y="30175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명암 대비 필터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7"/>
          <p:cNvSpPr/>
          <p:nvPr/>
        </p:nvSpPr>
        <p:spPr>
          <a:xfrm>
            <a:off x="6858000" y="33375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밝음 ↔ 어둠 전이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7"/>
          <p:cNvSpPr/>
          <p:nvPr/>
        </p:nvSpPr>
        <p:spPr>
          <a:xfrm>
            <a:off x="6217920" y="37947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7"/>
          <p:cNvSpPr/>
          <p:nvPr/>
        </p:nvSpPr>
        <p:spPr>
          <a:xfrm>
            <a:off x="6858000" y="3794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곡선·코너 검출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7"/>
          <p:cNvSpPr/>
          <p:nvPr/>
        </p:nvSpPr>
        <p:spPr>
          <a:xfrm>
            <a:off x="6858000" y="4114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둥근 모양·각진 모양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7"/>
          <p:cNvSpPr/>
          <p:nvPr/>
        </p:nvSpPr>
        <p:spPr>
          <a:xfrm>
            <a:off x="6217920" y="457200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7"/>
          <p:cNvSpPr/>
          <p:nvPr/>
        </p:nvSpPr>
        <p:spPr>
          <a:xfrm>
            <a:off x="6858000" y="45720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색상 검출 필터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7"/>
          <p:cNvSpPr/>
          <p:nvPr/>
        </p:nvSpPr>
        <p:spPr>
          <a:xfrm>
            <a:off x="6858000" y="48920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특정 채널 활성화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7"/>
          <p:cNvSpPr/>
          <p:nvPr/>
        </p:nvSpPr>
        <p:spPr>
          <a:xfrm>
            <a:off x="6126480" y="5486400"/>
            <a:ext cx="5577840" cy="731520"/>
          </a:xfrm>
          <a:prstGeom prst="rect">
            <a:avLst/>
          </a:prstGeom>
          <a:solidFill>
            <a:srgbClr val="F2A65A">
              <a:alpha val="12156"/>
            </a:srgbClr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7"/>
          <p:cNvSpPr/>
          <p:nvPr/>
        </p:nvSpPr>
        <p:spPr>
          <a:xfrm>
            <a:off x="6263640" y="5486400"/>
            <a:ext cx="5440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사람이 정한 필터가 아니다 — 데이터로부터 자동 학습된 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7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17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8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✏️ 미니 프로젝트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8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오늘 배운 모든 것을 통합하는 과제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8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8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CIFAR-10 (32×32×3 컬러)에서 MLP vs CNN 비교 실험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8"/>
          <p:cNvSpPr/>
          <p:nvPr/>
        </p:nvSpPr>
        <p:spPr>
          <a:xfrm>
            <a:off x="457200" y="2834640"/>
            <a:ext cx="21945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8"/>
          <p:cNvSpPr/>
          <p:nvPr/>
        </p:nvSpPr>
        <p:spPr>
          <a:xfrm>
            <a:off x="1234440" y="30175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8"/>
          <p:cNvSpPr/>
          <p:nvPr/>
        </p:nvSpPr>
        <p:spPr>
          <a:xfrm>
            <a:off x="1234440" y="3017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8"/>
          <p:cNvSpPr/>
          <p:nvPr/>
        </p:nvSpPr>
        <p:spPr>
          <a:xfrm>
            <a:off x="54864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데이터 로드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8"/>
          <p:cNvSpPr/>
          <p:nvPr/>
        </p:nvSpPr>
        <p:spPr>
          <a:xfrm>
            <a:off x="594360" y="42976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CIFAR-10 다운로드 및 정규화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8"/>
          <p:cNvSpPr/>
          <p:nvPr/>
        </p:nvSpPr>
        <p:spPr>
          <a:xfrm>
            <a:off x="2788920" y="2834640"/>
            <a:ext cx="21945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8"/>
          <p:cNvSpPr/>
          <p:nvPr/>
        </p:nvSpPr>
        <p:spPr>
          <a:xfrm>
            <a:off x="3566160" y="30175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8"/>
          <p:cNvSpPr/>
          <p:nvPr/>
        </p:nvSpPr>
        <p:spPr>
          <a:xfrm>
            <a:off x="3566160" y="3017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8"/>
          <p:cNvSpPr/>
          <p:nvPr/>
        </p:nvSpPr>
        <p:spPr>
          <a:xfrm>
            <a:off x="288036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MLP 정의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8"/>
          <p:cNvSpPr/>
          <p:nvPr/>
        </p:nvSpPr>
        <p:spPr>
          <a:xfrm>
            <a:off x="2926080" y="42976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32×32×3 → 512 → 256 →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8"/>
          <p:cNvSpPr/>
          <p:nvPr/>
        </p:nvSpPr>
        <p:spPr>
          <a:xfrm>
            <a:off x="5120640" y="2834640"/>
            <a:ext cx="21945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8"/>
          <p:cNvSpPr/>
          <p:nvPr/>
        </p:nvSpPr>
        <p:spPr>
          <a:xfrm>
            <a:off x="5897880" y="30175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8"/>
          <p:cNvSpPr/>
          <p:nvPr/>
        </p:nvSpPr>
        <p:spPr>
          <a:xfrm>
            <a:off x="5897880" y="3017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8"/>
          <p:cNvSpPr/>
          <p:nvPr/>
        </p:nvSpPr>
        <p:spPr>
          <a:xfrm>
            <a:off x="521208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CNN 정의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8"/>
          <p:cNvSpPr/>
          <p:nvPr/>
        </p:nvSpPr>
        <p:spPr>
          <a:xfrm>
            <a:off x="5257800" y="42976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Conv-Pool 2회 + FC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8"/>
          <p:cNvSpPr/>
          <p:nvPr/>
        </p:nvSpPr>
        <p:spPr>
          <a:xfrm>
            <a:off x="7452360" y="2834640"/>
            <a:ext cx="21945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8"/>
          <p:cNvSpPr/>
          <p:nvPr/>
        </p:nvSpPr>
        <p:spPr>
          <a:xfrm>
            <a:off x="8229600" y="30175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8"/>
          <p:cNvSpPr/>
          <p:nvPr/>
        </p:nvSpPr>
        <p:spPr>
          <a:xfrm>
            <a:off x="8229600" y="3017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8"/>
          <p:cNvSpPr/>
          <p:nvPr/>
        </p:nvSpPr>
        <p:spPr>
          <a:xfrm>
            <a:off x="754380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동일 학습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8"/>
          <p:cNvSpPr/>
          <p:nvPr/>
        </p:nvSpPr>
        <p:spPr>
          <a:xfrm>
            <a:off x="7589520" y="42976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둘 다 5 epoch, 같은 LR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8"/>
          <p:cNvSpPr/>
          <p:nvPr/>
        </p:nvSpPr>
        <p:spPr>
          <a:xfrm>
            <a:off x="9784080" y="2834640"/>
            <a:ext cx="219456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8"/>
          <p:cNvSpPr/>
          <p:nvPr/>
        </p:nvSpPr>
        <p:spPr>
          <a:xfrm>
            <a:off x="10561320" y="301752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8"/>
          <p:cNvSpPr/>
          <p:nvPr/>
        </p:nvSpPr>
        <p:spPr>
          <a:xfrm>
            <a:off x="10561320" y="30175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8"/>
          <p:cNvSpPr/>
          <p:nvPr/>
        </p:nvSpPr>
        <p:spPr>
          <a:xfrm>
            <a:off x="9875520" y="37947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비교·해석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9921240" y="42976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정확도, 파라미터, Translation Inv 검증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8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5FAD56">
              <a:alpha val="10196"/>
            </a:srgbClr>
          </a:solidFill>
          <a:ln cap="flat" cmpd="sng" w="12700">
            <a:solidFill>
              <a:srgbClr val="5FAD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8"/>
          <p:cNvSpPr/>
          <p:nvPr/>
        </p:nvSpPr>
        <p:spPr>
          <a:xfrm>
            <a:off x="731520" y="557784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예상 결과 — MLP ~50%, CNN ~70%+ (CIFAR는 컬러 + 복잡 배경이라 차이가 더 극명)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8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18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9"/>
          <p:cNvSpPr/>
          <p:nvPr/>
        </p:nvSpPr>
        <p:spPr>
          <a:xfrm>
            <a:off x="457200" y="320040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정리하자면…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9"/>
          <p:cNvSpPr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9"/>
          <p:cNvSpPr/>
          <p:nvPr/>
        </p:nvSpPr>
        <p:spPr>
          <a:xfrm>
            <a:off x="640080" y="1554480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9"/>
          <p:cNvSpPr/>
          <p:nvPr/>
        </p:nvSpPr>
        <p:spPr>
          <a:xfrm>
            <a:off x="2011680" y="16916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이미지는 결국 숫자 격자다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9"/>
          <p:cNvSpPr/>
          <p:nvPr/>
        </p:nvSpPr>
        <p:spPr>
          <a:xfrm>
            <a:off x="2011680" y="2148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컬러 = R/G/B 3채널 겹침 / NumPy 슬라이싱으로 자유자재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9"/>
          <p:cNvSpPr/>
          <p:nvPr/>
        </p:nvSpPr>
        <p:spPr>
          <a:xfrm>
            <a:off x="457200" y="2697480"/>
            <a:ext cx="1124712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9"/>
          <p:cNvSpPr/>
          <p:nvPr/>
        </p:nvSpPr>
        <p:spPr>
          <a:xfrm>
            <a:off x="640080" y="2697480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9"/>
          <p:cNvSpPr/>
          <p:nvPr/>
        </p:nvSpPr>
        <p:spPr>
          <a:xfrm>
            <a:off x="2011680" y="28346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PyTorch는 NCHW 4D 텐서를 입력받는다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19"/>
          <p:cNvSpPr/>
          <p:nvPr/>
        </p:nvSpPr>
        <p:spPr>
          <a:xfrm>
            <a:off x="2011680" y="3291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permute(2,0,1) + unsqueeze(0) — 차원 마법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9"/>
          <p:cNvSpPr/>
          <p:nvPr/>
        </p:nvSpPr>
        <p:spPr>
          <a:xfrm>
            <a:off x="457200" y="3840480"/>
            <a:ext cx="11247120" cy="1005840"/>
          </a:xfrm>
          <a:prstGeom prst="rect">
            <a:avLst/>
          </a:prstGeom>
          <a:solidFill>
            <a:srgbClr val="F2A6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9"/>
          <p:cNvSpPr/>
          <p:nvPr/>
        </p:nvSpPr>
        <p:spPr>
          <a:xfrm>
            <a:off x="640080" y="3840480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9"/>
          <p:cNvSpPr/>
          <p:nvPr/>
        </p:nvSpPr>
        <p:spPr>
          <a:xfrm>
            <a:off x="2011680" y="39776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정규화는 학습의 시작이다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9"/>
          <p:cNvSpPr/>
          <p:nvPr/>
        </p:nvSpPr>
        <p:spPr>
          <a:xfrm>
            <a:off x="2011680" y="4434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ImageNet 통계 / 증강은 학습 전용 / ToTensor 위치 주의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9"/>
          <p:cNvSpPr/>
          <p:nvPr/>
        </p:nvSpPr>
        <p:spPr>
          <a:xfrm>
            <a:off x="457200" y="4983480"/>
            <a:ext cx="1124712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9"/>
          <p:cNvSpPr/>
          <p:nvPr/>
        </p:nvSpPr>
        <p:spPr>
          <a:xfrm>
            <a:off x="640080" y="4983480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9"/>
          <p:cNvSpPr/>
          <p:nvPr/>
        </p:nvSpPr>
        <p:spPr>
          <a:xfrm>
            <a:off x="2011680" y="51206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CNN의 강점은 '구조'에서 온다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9"/>
          <p:cNvSpPr/>
          <p:nvPr/>
        </p:nvSpPr>
        <p:spPr>
          <a:xfrm>
            <a:off x="2011680" y="5577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Spatial Locality + Parameter Sharing + Translation Invariance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9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19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자주 나오는 질문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0"/>
          <p:cNvSpPr/>
          <p:nvPr/>
        </p:nvSpPr>
        <p:spPr>
          <a:xfrm>
            <a:off x="457200" y="1554480"/>
            <a:ext cx="73152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0"/>
          <p:cNvSpPr/>
          <p:nvPr/>
        </p:nvSpPr>
        <p:spPr>
          <a:xfrm>
            <a:off x="457200" y="15544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0"/>
          <p:cNvSpPr/>
          <p:nvPr/>
        </p:nvSpPr>
        <p:spPr>
          <a:xfrm>
            <a:off x="1280160" y="160020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왜 0~255가 아니라 0~1로 정규화?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0"/>
          <p:cNvSpPr/>
          <p:nvPr/>
        </p:nvSpPr>
        <p:spPr>
          <a:xfrm>
            <a:off x="457200" y="2057400"/>
            <a:ext cx="731520" cy="50292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0"/>
          <p:cNvSpPr/>
          <p:nvPr/>
        </p:nvSpPr>
        <p:spPr>
          <a:xfrm>
            <a:off x="457200" y="205740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0"/>
          <p:cNvSpPr/>
          <p:nvPr/>
        </p:nvSpPr>
        <p:spPr>
          <a:xfrm>
            <a:off x="1280160" y="205740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큰 입력 → 큰 활성화 → 큰 그래디언트 → 학습 불안정. 0~1 범위가 가장 안정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0"/>
          <p:cNvSpPr/>
          <p:nvPr/>
        </p:nvSpPr>
        <p:spPr>
          <a:xfrm>
            <a:off x="457200" y="2743200"/>
            <a:ext cx="73152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0"/>
          <p:cNvSpPr/>
          <p:nvPr/>
        </p:nvSpPr>
        <p:spPr>
          <a:xfrm>
            <a:off x="457200" y="274320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0"/>
          <p:cNvSpPr/>
          <p:nvPr/>
        </p:nvSpPr>
        <p:spPr>
          <a:xfrm>
            <a:off x="1280160" y="278892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permute와 transpose 차이?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0"/>
          <p:cNvSpPr/>
          <p:nvPr/>
        </p:nvSpPr>
        <p:spPr>
          <a:xfrm>
            <a:off x="457200" y="3246120"/>
            <a:ext cx="731520" cy="50292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0"/>
          <p:cNvSpPr/>
          <p:nvPr/>
        </p:nvSpPr>
        <p:spPr>
          <a:xfrm>
            <a:off x="457200" y="324612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0"/>
          <p:cNvSpPr/>
          <p:nvPr/>
        </p:nvSpPr>
        <p:spPr>
          <a:xfrm>
            <a:off x="1280160" y="32461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permute = 여러 차원 동시 재배치 / transpose = 두 차원 교환. 보통 permute 사용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0"/>
          <p:cNvSpPr/>
          <p:nvPr/>
        </p:nvSpPr>
        <p:spPr>
          <a:xfrm>
            <a:off x="457200" y="3931920"/>
            <a:ext cx="73152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0"/>
          <p:cNvSpPr/>
          <p:nvPr/>
        </p:nvSpPr>
        <p:spPr>
          <a:xfrm>
            <a:off x="457200" y="39319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0"/>
          <p:cNvSpPr/>
          <p:nvPr/>
        </p:nvSpPr>
        <p:spPr>
          <a:xfrm>
            <a:off x="1280160" y="397764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왜 ImageNet 통계? 데이터셋 자체가 더 정확하지 않나?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0"/>
          <p:cNvSpPr/>
          <p:nvPr/>
        </p:nvSpPr>
        <p:spPr>
          <a:xfrm>
            <a:off x="457200" y="4434840"/>
            <a:ext cx="731520" cy="50292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0"/>
          <p:cNvSpPr/>
          <p:nvPr/>
        </p:nvSpPr>
        <p:spPr>
          <a:xfrm>
            <a:off x="457200" y="443484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0"/>
          <p:cNvSpPr/>
          <p:nvPr/>
        </p:nvSpPr>
        <p:spPr>
          <a:xfrm>
            <a:off x="1280160" y="443484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Transfer Learning 시 사전학습 분포와 일치 필수. From-scratch면 데이터셋 통계가 좋음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0"/>
          <p:cNvSpPr/>
          <p:nvPr/>
        </p:nvSpPr>
        <p:spPr>
          <a:xfrm>
            <a:off x="457200" y="5120640"/>
            <a:ext cx="73152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0"/>
          <p:cNvSpPr/>
          <p:nvPr/>
        </p:nvSpPr>
        <p:spPr>
          <a:xfrm>
            <a:off x="457200" y="512064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0"/>
          <p:cNvSpPr/>
          <p:nvPr/>
        </p:nvSpPr>
        <p:spPr>
          <a:xfrm>
            <a:off x="1280160" y="516636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albumentations vs torchvision 어느 게 좋나?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0"/>
          <p:cNvSpPr/>
          <p:nvPr/>
        </p:nvSpPr>
        <p:spPr>
          <a:xfrm>
            <a:off x="457200" y="5623560"/>
            <a:ext cx="731520" cy="502920"/>
          </a:xfrm>
          <a:prstGeom prst="rect">
            <a:avLst/>
          </a:prstGeom>
          <a:solidFill>
            <a:srgbClr val="1C7293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0"/>
          <p:cNvSpPr/>
          <p:nvPr/>
        </p:nvSpPr>
        <p:spPr>
          <a:xfrm>
            <a:off x="457200" y="562356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0"/>
          <p:cNvSpPr/>
          <p:nvPr/>
        </p:nvSpPr>
        <p:spPr>
          <a:xfrm>
            <a:off x="1280160" y="562356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분류는 둘 다 OK / 객체 탐지·세그는 albumentations (bbox·mask 자동 동기화)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0"/>
          <p:cNvSpPr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F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F7C"/>
                </a:solidFill>
                <a:latin typeface="Calibri"/>
                <a:ea typeface="Calibri"/>
                <a:cs typeface="Calibri"/>
                <a:sym typeface="Calibri"/>
              </a:rPr>
              <a:t>20 /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2"/>
          <p:cNvSpPr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수고하셨습니다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3" name="Google Shape;983;p22"/>
          <p:cNvCxnSpPr/>
          <p:nvPr/>
        </p:nvCxnSpPr>
        <p:spPr>
          <a:xfrm>
            <a:off x="5166360" y="3383280"/>
            <a:ext cx="1828800" cy="0"/>
          </a:xfrm>
          <a:prstGeom prst="straightConnector1">
            <a:avLst/>
          </a:prstGeom>
          <a:noFill/>
          <a:ln cap="flat" cmpd="sng" w="381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4" name="Google Shape;984;p22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"이미지는 결국 숫자다 / CNN의 강점은 구조에서 온다"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2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B3C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EB3C2"/>
                </a:solidFill>
                <a:latin typeface="Calibri"/>
                <a:ea typeface="Calibri"/>
                <a:cs typeface="Calibri"/>
                <a:sym typeface="Calibri"/>
              </a:rPr>
              <a:t>질문은 언제든 환영입니다.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2026-05-03T12:00:38Z</dcterms:created>
  <dc:creator>김정인 (imguru.co.kr)</dc:creator>
</cp:coreProperties>
</file>